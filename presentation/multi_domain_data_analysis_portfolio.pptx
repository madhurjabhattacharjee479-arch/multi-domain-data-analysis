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6CC68D-224D-4D02-98D6-EF30E48F6817}" v="21" dt="2026-09-08T18:52:00.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rja Bhattacharjee" userId="e2cefcfd6b784124" providerId="LiveId" clId="{A80297BA-0793-43CB-BBB4-8516736463B0}"/>
    <pc:docChg chg="modSld">
      <pc:chgData name="Madhurja Bhattacharjee" userId="e2cefcfd6b784124" providerId="LiveId" clId="{A80297BA-0793-43CB-BBB4-8516736463B0}" dt="2026-09-08T18:52:00.292" v="2158"/>
      <pc:docMkLst>
        <pc:docMk/>
      </pc:docMkLst>
      <pc:sldChg chg="modSp mod">
        <pc:chgData name="Madhurja Bhattacharjee" userId="e2cefcfd6b784124" providerId="LiveId" clId="{A80297BA-0793-43CB-BBB4-8516736463B0}" dt="2026-09-08T17:13:30.967" v="125" actId="20577"/>
        <pc:sldMkLst>
          <pc:docMk/>
          <pc:sldMk cId="0" sldId="257"/>
        </pc:sldMkLst>
        <pc:spChg chg="mod">
          <ac:chgData name="Madhurja Bhattacharjee" userId="e2cefcfd6b784124" providerId="LiveId" clId="{A80297BA-0793-43CB-BBB4-8516736463B0}" dt="2026-09-08T17:12:50.231" v="102" actId="20577"/>
          <ac:spMkLst>
            <pc:docMk/>
            <pc:sldMk cId="0" sldId="257"/>
            <ac:spMk id="8" creationId="{00000000-0000-0000-0000-000000000000}"/>
          </ac:spMkLst>
        </pc:spChg>
        <pc:spChg chg="mod">
          <ac:chgData name="Madhurja Bhattacharjee" userId="e2cefcfd6b784124" providerId="LiveId" clId="{A80297BA-0793-43CB-BBB4-8516736463B0}" dt="2026-09-08T17:13:30.967" v="125" actId="20577"/>
          <ac:spMkLst>
            <pc:docMk/>
            <pc:sldMk cId="0" sldId="257"/>
            <ac:spMk id="10" creationId="{00000000-0000-0000-0000-000000000000}"/>
          </ac:spMkLst>
        </pc:spChg>
      </pc:sldChg>
      <pc:sldChg chg="modSp mod">
        <pc:chgData name="Madhurja Bhattacharjee" userId="e2cefcfd6b784124" providerId="LiveId" clId="{A80297BA-0793-43CB-BBB4-8516736463B0}" dt="2026-09-08T17:14:26.450" v="129" actId="20577"/>
        <pc:sldMkLst>
          <pc:docMk/>
          <pc:sldMk cId="0" sldId="259"/>
        </pc:sldMkLst>
        <pc:spChg chg="mod">
          <ac:chgData name="Madhurja Bhattacharjee" userId="e2cefcfd6b784124" providerId="LiveId" clId="{A80297BA-0793-43CB-BBB4-8516736463B0}" dt="2026-09-08T17:14:26.450" v="129" actId="20577"/>
          <ac:spMkLst>
            <pc:docMk/>
            <pc:sldMk cId="0" sldId="259"/>
            <ac:spMk id="4" creationId="{00000000-0000-0000-0000-000000000000}"/>
          </ac:spMkLst>
        </pc:spChg>
      </pc:sldChg>
      <pc:sldChg chg="modSp mod">
        <pc:chgData name="Madhurja Bhattacharjee" userId="e2cefcfd6b784124" providerId="LiveId" clId="{A80297BA-0793-43CB-BBB4-8516736463B0}" dt="2026-09-08T18:14:36.382" v="209"/>
        <pc:sldMkLst>
          <pc:docMk/>
          <pc:sldMk cId="0" sldId="260"/>
        </pc:sldMkLst>
        <pc:spChg chg="mod">
          <ac:chgData name="Madhurja Bhattacharjee" userId="e2cefcfd6b784124" providerId="LiveId" clId="{A80297BA-0793-43CB-BBB4-8516736463B0}" dt="2026-09-08T18:14:36.382" v="209"/>
          <ac:spMkLst>
            <pc:docMk/>
            <pc:sldMk cId="0" sldId="260"/>
            <ac:spMk id="12" creationId="{00000000-0000-0000-0000-000000000000}"/>
          </ac:spMkLst>
        </pc:spChg>
      </pc:sldChg>
      <pc:sldChg chg="modSp mod">
        <pc:chgData name="Madhurja Bhattacharjee" userId="e2cefcfd6b784124" providerId="LiveId" clId="{A80297BA-0793-43CB-BBB4-8516736463B0}" dt="2026-09-08T18:21:25.596" v="411"/>
        <pc:sldMkLst>
          <pc:docMk/>
          <pc:sldMk cId="0" sldId="261"/>
        </pc:sldMkLst>
        <pc:spChg chg="mod">
          <ac:chgData name="Madhurja Bhattacharjee" userId="e2cefcfd6b784124" providerId="LiveId" clId="{A80297BA-0793-43CB-BBB4-8516736463B0}" dt="2026-09-08T18:21:25.596" v="411"/>
          <ac:spMkLst>
            <pc:docMk/>
            <pc:sldMk cId="0" sldId="261"/>
            <ac:spMk id="10" creationId="{00000000-0000-0000-0000-000000000000}"/>
          </ac:spMkLst>
        </pc:spChg>
      </pc:sldChg>
      <pc:sldChg chg="modSp mod">
        <pc:chgData name="Madhurja Bhattacharjee" userId="e2cefcfd6b784124" providerId="LiveId" clId="{A80297BA-0793-43CB-BBB4-8516736463B0}" dt="2026-09-08T18:25:23.862" v="561" actId="20577"/>
        <pc:sldMkLst>
          <pc:docMk/>
          <pc:sldMk cId="0" sldId="262"/>
        </pc:sldMkLst>
        <pc:spChg chg="mod">
          <ac:chgData name="Madhurja Bhattacharjee" userId="e2cefcfd6b784124" providerId="LiveId" clId="{A80297BA-0793-43CB-BBB4-8516736463B0}" dt="2026-09-08T18:25:23.862" v="561" actId="20577"/>
          <ac:spMkLst>
            <pc:docMk/>
            <pc:sldMk cId="0" sldId="262"/>
            <ac:spMk id="10" creationId="{00000000-0000-0000-0000-000000000000}"/>
          </ac:spMkLst>
        </pc:spChg>
      </pc:sldChg>
      <pc:sldChg chg="modSp mod">
        <pc:chgData name="Madhurja Bhattacharjee" userId="e2cefcfd6b784124" providerId="LiveId" clId="{A80297BA-0793-43CB-BBB4-8516736463B0}" dt="2026-09-08T18:28:48.637" v="778"/>
        <pc:sldMkLst>
          <pc:docMk/>
          <pc:sldMk cId="0" sldId="263"/>
        </pc:sldMkLst>
        <pc:graphicFrameChg chg="mod modGraphic">
          <ac:chgData name="Madhurja Bhattacharjee" userId="e2cefcfd6b784124" providerId="LiveId" clId="{A80297BA-0793-43CB-BBB4-8516736463B0}" dt="2026-09-08T18:28:48.637" v="778"/>
          <ac:graphicFrameMkLst>
            <pc:docMk/>
            <pc:sldMk cId="0" sldId="263"/>
            <ac:graphicFrameMk id="4" creationId="{00000000-0000-0000-0000-000000000000}"/>
          </ac:graphicFrameMkLst>
        </pc:graphicFrameChg>
      </pc:sldChg>
      <pc:sldChg chg="modSp mod">
        <pc:chgData name="Madhurja Bhattacharjee" userId="e2cefcfd6b784124" providerId="LiveId" clId="{A80297BA-0793-43CB-BBB4-8516736463B0}" dt="2026-09-08T18:31:18.827" v="986" actId="20577"/>
        <pc:sldMkLst>
          <pc:docMk/>
          <pc:sldMk cId="0" sldId="264"/>
        </pc:sldMkLst>
        <pc:spChg chg="mod">
          <ac:chgData name="Madhurja Bhattacharjee" userId="e2cefcfd6b784124" providerId="LiveId" clId="{A80297BA-0793-43CB-BBB4-8516736463B0}" dt="2026-09-08T18:31:18.827" v="986" actId="20577"/>
          <ac:spMkLst>
            <pc:docMk/>
            <pc:sldMk cId="0" sldId="264"/>
            <ac:spMk id="10" creationId="{00000000-0000-0000-0000-000000000000}"/>
          </ac:spMkLst>
        </pc:spChg>
      </pc:sldChg>
      <pc:sldChg chg="modSp mod">
        <pc:chgData name="Madhurja Bhattacharjee" userId="e2cefcfd6b784124" providerId="LiveId" clId="{A80297BA-0793-43CB-BBB4-8516736463B0}" dt="2026-09-08T18:34:54.693" v="1248"/>
        <pc:sldMkLst>
          <pc:docMk/>
          <pc:sldMk cId="0" sldId="265"/>
        </pc:sldMkLst>
        <pc:spChg chg="mod">
          <ac:chgData name="Madhurja Bhattacharjee" userId="e2cefcfd6b784124" providerId="LiveId" clId="{A80297BA-0793-43CB-BBB4-8516736463B0}" dt="2026-09-08T18:34:04.762" v="1116"/>
          <ac:spMkLst>
            <pc:docMk/>
            <pc:sldMk cId="0" sldId="265"/>
            <ac:spMk id="8" creationId="{00000000-0000-0000-0000-000000000000}"/>
          </ac:spMkLst>
        </pc:spChg>
        <pc:spChg chg="mod">
          <ac:chgData name="Madhurja Bhattacharjee" userId="e2cefcfd6b784124" providerId="LiveId" clId="{A80297BA-0793-43CB-BBB4-8516736463B0}" dt="2026-09-08T18:34:54.693" v="1248"/>
          <ac:spMkLst>
            <pc:docMk/>
            <pc:sldMk cId="0" sldId="265"/>
            <ac:spMk id="10" creationId="{00000000-0000-0000-0000-000000000000}"/>
          </ac:spMkLst>
        </pc:spChg>
      </pc:sldChg>
      <pc:sldChg chg="modSp mod">
        <pc:chgData name="Madhurja Bhattacharjee" userId="e2cefcfd6b784124" providerId="LiveId" clId="{A80297BA-0793-43CB-BBB4-8516736463B0}" dt="2026-09-08T18:52:00.292" v="2158"/>
        <pc:sldMkLst>
          <pc:docMk/>
          <pc:sldMk cId="0" sldId="266"/>
        </pc:sldMkLst>
        <pc:spChg chg="mod">
          <ac:chgData name="Madhurja Bhattacharjee" userId="e2cefcfd6b784124" providerId="LiveId" clId="{A80297BA-0793-43CB-BBB4-8516736463B0}" dt="2026-09-08T18:37:08.872" v="1355"/>
          <ac:spMkLst>
            <pc:docMk/>
            <pc:sldMk cId="0" sldId="266"/>
            <ac:spMk id="2" creationId="{00000000-0000-0000-0000-000000000000}"/>
          </ac:spMkLst>
        </pc:spChg>
        <pc:spChg chg="mod">
          <ac:chgData name="Madhurja Bhattacharjee" userId="e2cefcfd6b784124" providerId="LiveId" clId="{A80297BA-0793-43CB-BBB4-8516736463B0}" dt="2026-09-08T18:49:03.962" v="1928"/>
          <ac:spMkLst>
            <pc:docMk/>
            <pc:sldMk cId="0" sldId="266"/>
            <ac:spMk id="4" creationId="{00000000-0000-0000-0000-000000000000}"/>
          </ac:spMkLst>
        </pc:spChg>
        <pc:spChg chg="mod">
          <ac:chgData name="Madhurja Bhattacharjee" userId="e2cefcfd6b784124" providerId="LiveId" clId="{A80297BA-0793-43CB-BBB4-8516736463B0}" dt="2026-09-08T18:49:29.382" v="2027"/>
          <ac:spMkLst>
            <pc:docMk/>
            <pc:sldMk cId="0" sldId="266"/>
            <ac:spMk id="6" creationId="{00000000-0000-0000-0000-000000000000}"/>
          </ac:spMkLst>
        </pc:spChg>
        <pc:spChg chg="mod">
          <ac:chgData name="Madhurja Bhattacharjee" userId="e2cefcfd6b784124" providerId="LiveId" clId="{A80297BA-0793-43CB-BBB4-8516736463B0}" dt="2026-09-08T18:52:00.292" v="2158"/>
          <ac:spMkLst>
            <pc:docMk/>
            <pc:sldMk cId="0" sldId="266"/>
            <ac:spMk id="8" creationId="{00000000-0000-0000-0000-000000000000}"/>
          </ac:spMkLst>
        </pc:spChg>
      </pc:sldChg>
      <pc:sldChg chg="modSp mod">
        <pc:chgData name="Madhurja Bhattacharjee" userId="e2cefcfd6b784124" providerId="LiveId" clId="{A80297BA-0793-43CB-BBB4-8516736463B0}" dt="2026-09-08T18:46:53.702" v="1739" actId="20577"/>
        <pc:sldMkLst>
          <pc:docMk/>
          <pc:sldMk cId="0" sldId="267"/>
        </pc:sldMkLst>
        <pc:spChg chg="mod">
          <ac:chgData name="Madhurja Bhattacharjee" userId="e2cefcfd6b784124" providerId="LiveId" clId="{A80297BA-0793-43CB-BBB4-8516736463B0}" dt="2026-09-08T18:45:58.002" v="1723" actId="20577"/>
          <ac:spMkLst>
            <pc:docMk/>
            <pc:sldMk cId="0" sldId="267"/>
            <ac:spMk id="12" creationId="{00000000-0000-0000-0000-000000000000}"/>
          </ac:spMkLst>
        </pc:spChg>
        <pc:spChg chg="mod">
          <ac:chgData name="Madhurja Bhattacharjee" userId="e2cefcfd6b784124" providerId="LiveId" clId="{A80297BA-0793-43CB-BBB4-8516736463B0}" dt="2026-09-08T18:43:10.152" v="1516" actId="20577"/>
          <ac:spMkLst>
            <pc:docMk/>
            <pc:sldMk cId="0" sldId="267"/>
            <ac:spMk id="14" creationId="{00000000-0000-0000-0000-000000000000}"/>
          </ac:spMkLst>
        </pc:spChg>
        <pc:spChg chg="mod">
          <ac:chgData name="Madhurja Bhattacharjee" userId="e2cefcfd6b784124" providerId="LiveId" clId="{A80297BA-0793-43CB-BBB4-8516736463B0}" dt="2026-09-08T18:46:53.702" v="1739" actId="20577"/>
          <ac:spMkLst>
            <pc:docMk/>
            <pc:sldMk cId="0" sldId="267"/>
            <ac:spMk id="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20C21F-93AD-48D5-A68A-3CA2BE9A38DB}"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7668D3-822E-4D13-8E05-F16F8E350BDE}" type="slidenum">
              <a:rPr lang="en-IN" smtClean="0"/>
              <a:t>‹#›</a:t>
            </a:fld>
            <a:endParaRPr lang="en-IN"/>
          </a:p>
        </p:txBody>
      </p:sp>
    </p:spTree>
    <p:extLst>
      <p:ext uri="{BB962C8B-B14F-4D97-AF65-F5344CB8AC3E}">
        <p14:creationId xmlns:p14="http://schemas.microsoft.com/office/powerpoint/2010/main" val="124939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7668D3-822E-4D13-8E05-F16F8E350BDE}" type="slidenum">
              <a:rPr lang="en-IN" smtClean="0"/>
              <a:t>8</a:t>
            </a:fld>
            <a:endParaRPr lang="en-IN"/>
          </a:p>
        </p:txBody>
      </p:sp>
    </p:spTree>
    <p:extLst>
      <p:ext uri="{BB962C8B-B14F-4D97-AF65-F5344CB8AC3E}">
        <p14:creationId xmlns:p14="http://schemas.microsoft.com/office/powerpoint/2010/main" val="1123992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731520"/>
            <a:ext cx="10728655" cy="530352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731520"/>
            <a:ext cx="1072865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280160"/>
            <a:ext cx="9784080" cy="2011680"/>
          </a:xfrm>
          <a:prstGeom prst="rect">
            <a:avLst/>
          </a:prstGeom>
          <a:noFill/>
        </p:spPr>
        <p:txBody>
          <a:bodyPr wrap="square" lIns="0" tIns="0" rIns="0" bIns="0">
            <a:spAutoFit/>
          </a:bodyPr>
          <a:lstStyle/>
          <a:p>
            <a:pPr>
              <a:spcAft>
                <a:spcPts val="600"/>
              </a:spcAft>
              <a:defRPr sz="1100" b="1">
                <a:solidFill>
                  <a:srgbClr val="0D9488"/>
                </a:solidFill>
                <a:latin typeface="Segoe UI"/>
              </a:defRPr>
            </a:pPr>
            <a:r>
              <a:t>DEVELOPERS ARENA INTERNSHIP PORTFOLIO</a:t>
            </a:r>
          </a:p>
          <a:p>
            <a:pPr>
              <a:spcAft>
                <a:spcPts val="600"/>
              </a:spcAft>
              <a:defRPr sz="3200" b="1">
                <a:solidFill>
                  <a:srgbClr val="0F172A"/>
                </a:solidFill>
                <a:latin typeface="Segoe UI"/>
              </a:defRPr>
            </a:pPr>
            <a:r>
              <a:t>Multi-Domain Data Analysis Portfolio</a:t>
            </a:r>
          </a:p>
          <a:p>
            <a:pPr>
              <a:defRPr sz="1600">
                <a:solidFill>
                  <a:srgbClr val="64748B"/>
                </a:solidFill>
                <a:latin typeface="Segoe UI"/>
              </a:defRPr>
            </a:pPr>
            <a:r>
              <a:t>5 Real-World Data Analysis Projects Across Distinct Domains</a:t>
            </a:r>
          </a:p>
        </p:txBody>
      </p:sp>
      <p:sp>
        <p:nvSpPr>
          <p:cNvPr id="5" name="Rounded Rectangle 4"/>
          <p:cNvSpPr/>
          <p:nvPr/>
        </p:nvSpPr>
        <p:spPr>
          <a:xfrm>
            <a:off x="1188720" y="3474720"/>
            <a:ext cx="978408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584448"/>
            <a:ext cx="9418320" cy="502920"/>
          </a:xfrm>
          <a:prstGeom prst="rect">
            <a:avLst/>
          </a:prstGeom>
          <a:noFill/>
        </p:spPr>
        <p:txBody>
          <a:bodyPr wrap="square" lIns="0" tIns="0" rIns="0" bIns="0">
            <a:spAutoFit/>
          </a:bodyPr>
          <a:lstStyle/>
          <a:p>
            <a:r>
              <a:rPr b="1">
                <a:solidFill>
                  <a:srgbClr val="0F172A"/>
                </a:solidFill>
              </a:rPr>
              <a:t>Author / Intern: </a:t>
            </a:r>
            <a:r>
              <a:rPr>
                <a:solidFill>
                  <a:srgbClr val="0F766E"/>
                </a:solidFill>
              </a:rPr>
              <a:t>Madhurja Bhattacharjee   |   </a:t>
            </a:r>
            <a:r>
              <a:rPr b="1">
                <a:solidFill>
                  <a:srgbClr val="0F172A"/>
                </a:solidFill>
              </a:rPr>
              <a:t>Organization: </a:t>
            </a:r>
            <a:r>
              <a:rPr>
                <a:solidFill>
                  <a:srgbClr val="0F766E"/>
                </a:solidFill>
              </a:rPr>
              <a:t>Developers Arena   |   </a:t>
            </a:r>
            <a:r>
              <a:rPr b="1">
                <a:solidFill>
                  <a:srgbClr val="0F172A"/>
                </a:solidFill>
              </a:rPr>
              <a:t>Core Stack: </a:t>
            </a:r>
            <a:r>
              <a:rPr>
                <a:solidFill>
                  <a:srgbClr val="334155"/>
                </a:solidFill>
              </a:rPr>
              <a:t>Python 3.13, Pandas, NumPy, SciPy, Matplotlib, Seaborn, Pytest</a:t>
            </a:r>
          </a:p>
        </p:txBody>
      </p:sp>
      <p:sp>
        <p:nvSpPr>
          <p:cNvPr id="7" name="Rounded Rectangle 6"/>
          <p:cNvSpPr/>
          <p:nvPr/>
        </p:nvSpPr>
        <p:spPr>
          <a:xfrm>
            <a:off x="1188720" y="4434840"/>
            <a:ext cx="1847088"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4526280"/>
            <a:ext cx="1664208" cy="914400"/>
          </a:xfrm>
          <a:prstGeom prst="rect">
            <a:avLst/>
          </a:prstGeom>
          <a:noFill/>
        </p:spPr>
        <p:txBody>
          <a:bodyPr wrap="square" lIns="0" tIns="0" rIns="0" bIns="0">
            <a:spAutoFit/>
          </a:bodyPr>
          <a:lstStyle/>
          <a:p>
            <a:pPr>
              <a:defRPr sz="850" b="1">
                <a:solidFill>
                  <a:srgbClr val="0D9488"/>
                </a:solidFill>
                <a:latin typeface="Segoe UI"/>
              </a:defRPr>
            </a:pPr>
            <a:r>
              <a:t>PROJECT 01</a:t>
            </a:r>
          </a:p>
          <a:p>
            <a:pPr>
              <a:defRPr sz="1000" b="1">
                <a:solidFill>
                  <a:srgbClr val="0F172A"/>
                </a:solidFill>
                <a:latin typeface="Segoe UI"/>
              </a:defRPr>
            </a:pPr>
            <a:r>
              <a:t>Supermarket Sales</a:t>
            </a:r>
          </a:p>
          <a:p>
            <a:pPr>
              <a:defRPr sz="750">
                <a:solidFill>
                  <a:srgbClr val="64748B"/>
                </a:solidFill>
                <a:latin typeface="Segoe UI"/>
              </a:defRPr>
            </a:pPr>
            <a:r>
              <a:t>Retail &amp; Commerce</a:t>
            </a:r>
          </a:p>
        </p:txBody>
      </p:sp>
      <p:sp>
        <p:nvSpPr>
          <p:cNvPr id="9" name="Rounded Rectangle 8"/>
          <p:cNvSpPr/>
          <p:nvPr/>
        </p:nvSpPr>
        <p:spPr>
          <a:xfrm>
            <a:off x="3172968" y="4434840"/>
            <a:ext cx="1847088"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64408" y="4526280"/>
            <a:ext cx="1664208" cy="914400"/>
          </a:xfrm>
          <a:prstGeom prst="rect">
            <a:avLst/>
          </a:prstGeom>
          <a:noFill/>
        </p:spPr>
        <p:txBody>
          <a:bodyPr wrap="square" lIns="0" tIns="0" rIns="0" bIns="0">
            <a:spAutoFit/>
          </a:bodyPr>
          <a:lstStyle/>
          <a:p>
            <a:pPr>
              <a:defRPr sz="850" b="1">
                <a:solidFill>
                  <a:srgbClr val="0D9488"/>
                </a:solidFill>
                <a:latin typeface="Segoe UI"/>
              </a:defRPr>
            </a:pPr>
            <a:r>
              <a:t>PROJECT 02</a:t>
            </a:r>
          </a:p>
          <a:p>
            <a:pPr>
              <a:defRPr sz="1000" b="1">
                <a:solidFill>
                  <a:srgbClr val="0F172A"/>
                </a:solidFill>
                <a:latin typeface="Segoe UI"/>
              </a:defRPr>
            </a:pPr>
            <a:r>
              <a:t>Student Performance</a:t>
            </a:r>
          </a:p>
          <a:p>
            <a:pPr>
              <a:defRPr sz="750">
                <a:solidFill>
                  <a:srgbClr val="64748B"/>
                </a:solidFill>
                <a:latin typeface="Segoe UI"/>
              </a:defRPr>
            </a:pPr>
            <a:r>
              <a:t>Academic &amp; Education</a:t>
            </a:r>
          </a:p>
        </p:txBody>
      </p:sp>
      <p:sp>
        <p:nvSpPr>
          <p:cNvPr id="11" name="Rounded Rectangle 10"/>
          <p:cNvSpPr/>
          <p:nvPr/>
        </p:nvSpPr>
        <p:spPr>
          <a:xfrm>
            <a:off x="5157216" y="4434840"/>
            <a:ext cx="1847088"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48656" y="4526280"/>
            <a:ext cx="1664208" cy="914400"/>
          </a:xfrm>
          <a:prstGeom prst="rect">
            <a:avLst/>
          </a:prstGeom>
          <a:noFill/>
        </p:spPr>
        <p:txBody>
          <a:bodyPr wrap="square" lIns="0" tIns="0" rIns="0" bIns="0">
            <a:spAutoFit/>
          </a:bodyPr>
          <a:lstStyle/>
          <a:p>
            <a:pPr>
              <a:defRPr sz="850" b="1">
                <a:solidFill>
                  <a:srgbClr val="0D9488"/>
                </a:solidFill>
                <a:latin typeface="Segoe UI"/>
              </a:defRPr>
            </a:pPr>
            <a:r>
              <a:t>PROJECT 03</a:t>
            </a:r>
          </a:p>
          <a:p>
            <a:pPr>
              <a:defRPr sz="1000" b="1">
                <a:solidFill>
                  <a:srgbClr val="0F172A"/>
                </a:solidFill>
                <a:latin typeface="Segoe UI"/>
              </a:defRPr>
            </a:pPr>
            <a:r>
              <a:t>Weather Analysis</a:t>
            </a:r>
          </a:p>
          <a:p>
            <a:pPr>
              <a:defRPr sz="750">
                <a:solidFill>
                  <a:srgbClr val="64748B"/>
                </a:solidFill>
                <a:latin typeface="Segoe UI"/>
              </a:defRPr>
            </a:pPr>
            <a:r>
              <a:t>Meteorology &amp; Climate</a:t>
            </a:r>
          </a:p>
        </p:txBody>
      </p:sp>
      <p:sp>
        <p:nvSpPr>
          <p:cNvPr id="13" name="Rounded Rectangle 12"/>
          <p:cNvSpPr/>
          <p:nvPr/>
        </p:nvSpPr>
        <p:spPr>
          <a:xfrm>
            <a:off x="7141464" y="4434840"/>
            <a:ext cx="1847088"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32904" y="4526280"/>
            <a:ext cx="1664208" cy="914400"/>
          </a:xfrm>
          <a:prstGeom prst="rect">
            <a:avLst/>
          </a:prstGeom>
          <a:noFill/>
        </p:spPr>
        <p:txBody>
          <a:bodyPr wrap="square" lIns="0" tIns="0" rIns="0" bIns="0">
            <a:spAutoFit/>
          </a:bodyPr>
          <a:lstStyle/>
          <a:p>
            <a:pPr>
              <a:defRPr sz="850" b="1">
                <a:solidFill>
                  <a:srgbClr val="0D9488"/>
                </a:solidFill>
                <a:latin typeface="Segoe UI"/>
              </a:defRPr>
            </a:pPr>
            <a:r>
              <a:t>PROJECT 04</a:t>
            </a:r>
          </a:p>
          <a:p>
            <a:pPr>
              <a:defRPr sz="1000" b="1">
                <a:solidFill>
                  <a:srgbClr val="0F172A"/>
                </a:solidFill>
                <a:latin typeface="Segoe UI"/>
              </a:defRPr>
            </a:pPr>
            <a:r>
              <a:t>COVID Trends</a:t>
            </a:r>
          </a:p>
          <a:p>
            <a:pPr>
              <a:defRPr sz="750">
                <a:solidFill>
                  <a:srgbClr val="64748B"/>
                </a:solidFill>
                <a:latin typeface="Segoe UI"/>
              </a:defRPr>
            </a:pPr>
            <a:r>
              <a:t>Healthcare &amp; Epidemiology</a:t>
            </a:r>
          </a:p>
        </p:txBody>
      </p:sp>
      <p:sp>
        <p:nvSpPr>
          <p:cNvPr id="15" name="Rounded Rectangle 14"/>
          <p:cNvSpPr/>
          <p:nvPr/>
        </p:nvSpPr>
        <p:spPr>
          <a:xfrm>
            <a:off x="9125712" y="4434840"/>
            <a:ext cx="1847088"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17152" y="4526280"/>
            <a:ext cx="1664208" cy="914400"/>
          </a:xfrm>
          <a:prstGeom prst="rect">
            <a:avLst/>
          </a:prstGeom>
          <a:noFill/>
        </p:spPr>
        <p:txBody>
          <a:bodyPr wrap="square" lIns="0" tIns="0" rIns="0" bIns="0">
            <a:spAutoFit/>
          </a:bodyPr>
          <a:lstStyle/>
          <a:p>
            <a:pPr>
              <a:defRPr sz="850" b="1">
                <a:solidFill>
                  <a:srgbClr val="0D9488"/>
                </a:solidFill>
                <a:latin typeface="Segoe UI"/>
              </a:defRPr>
            </a:pPr>
            <a:r>
              <a:t>PROJECT 05</a:t>
            </a:r>
          </a:p>
          <a:p>
            <a:pPr>
              <a:defRPr sz="1000" b="1">
                <a:solidFill>
                  <a:srgbClr val="0F172A"/>
                </a:solidFill>
                <a:latin typeface="Segoe UI"/>
              </a:defRPr>
            </a:pPr>
            <a:r>
              <a:t>Stock Market</a:t>
            </a:r>
          </a:p>
          <a:p>
            <a:pPr>
              <a:defRPr sz="750">
                <a:solidFill>
                  <a:srgbClr val="64748B"/>
                </a:solidFill>
                <a:latin typeface="Segoe UI"/>
              </a:defRPr>
            </a:pPr>
            <a:r>
              <a:t>Finance &amp; Quantitative Risk</a:t>
            </a:r>
          </a:p>
        </p:txBody>
      </p:sp>
      <p:sp>
        <p:nvSpPr>
          <p:cNvPr id="17" name="Rectangle 16"/>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19" name="TextBox 18"/>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01 of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PORTFOLIO FRAMEWORK</a:t>
            </a:r>
          </a:p>
          <a:p>
            <a:pPr>
              <a:spcAft>
                <a:spcPts val="200"/>
              </a:spcAft>
              <a:defRPr sz="2000" b="1">
                <a:solidFill>
                  <a:srgbClr val="0F172A"/>
                </a:solidFill>
                <a:latin typeface="Segoe UI"/>
              </a:defRPr>
            </a:pPr>
            <a:r>
              <a:t>Project Overview &amp; Analytics Methodology</a:t>
            </a:r>
          </a:p>
          <a:p>
            <a:pPr>
              <a:defRPr sz="1100">
                <a:solidFill>
                  <a:srgbClr val="64748B"/>
                </a:solidFill>
                <a:latin typeface="Segoe UI"/>
              </a:defRPr>
            </a:pPr>
            <a:r>
              <a:t>Standardized 7-stage analytical pipeline applied consistently across 5 diverse domain datasets</a:t>
            </a:r>
          </a:p>
        </p:txBody>
      </p:sp>
      <p:sp>
        <p:nvSpPr>
          <p:cNvPr id="3" name="Rounded Rectangle 2"/>
          <p:cNvSpPr/>
          <p:nvPr/>
        </p:nvSpPr>
        <p:spPr>
          <a:xfrm>
            <a:off x="731520" y="1417320"/>
            <a:ext cx="10728655" cy="868680"/>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508760"/>
            <a:ext cx="10454335" cy="685800"/>
          </a:xfrm>
          <a:prstGeom prst="rect">
            <a:avLst/>
          </a:prstGeom>
          <a:noFill/>
        </p:spPr>
        <p:txBody>
          <a:bodyPr wrap="square" lIns="0" tIns="0" rIns="0" bIns="0">
            <a:spAutoFit/>
          </a:bodyPr>
          <a:lstStyle/>
          <a:p>
            <a:pPr>
              <a:spcAft>
                <a:spcPts val="300"/>
              </a:spcAft>
              <a:defRPr sz="850" b="1">
                <a:solidFill>
                  <a:srgbClr val="0284C7"/>
                </a:solidFill>
                <a:latin typeface="Segoe UI"/>
              </a:defRPr>
            </a:pPr>
            <a:r>
              <a:t>STANDARDIZED END-TO-END DATA ANALYTICS WORKFLOW</a:t>
            </a:r>
          </a:p>
          <a:p>
            <a:pPr>
              <a:defRPr sz="1050" b="1">
                <a:solidFill>
                  <a:srgbClr val="0F172A"/>
                </a:solidFill>
                <a:latin typeface="Segoe UI"/>
              </a:defRPr>
            </a:pPr>
            <a:r>
              <a:t>1. Ingestion  →  2. Data Cleaning  →  3. Validation &amp; Tests  →  4. Statistical EDA  →  5. Visualization  →  6. Business Insights  →  7. Strategic Actions</a:t>
            </a:r>
          </a:p>
        </p:txBody>
      </p:sp>
      <p:sp>
        <p:nvSpPr>
          <p:cNvPr id="5" name="Rounded Rectangle 4"/>
          <p:cNvSpPr/>
          <p:nvPr/>
        </p:nvSpPr>
        <p:spPr>
          <a:xfrm>
            <a:off x="731520" y="2423160"/>
            <a:ext cx="342900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2532888"/>
            <a:ext cx="3099816" cy="3529583"/>
          </a:xfrm>
          <a:prstGeom prst="rect">
            <a:avLst/>
          </a:prstGeom>
          <a:noFill/>
        </p:spPr>
        <p:txBody>
          <a:bodyPr wrap="square" lIns="0" tIns="0" rIns="0" bIns="0">
            <a:spAutoFit/>
          </a:bodyPr>
          <a:lstStyle/>
          <a:p>
            <a:pPr>
              <a:spcAft>
                <a:spcPts val="400"/>
              </a:spcAft>
              <a:defRPr sz="1100" b="1">
                <a:solidFill>
                  <a:srgbClr val="0F172A"/>
                </a:solidFill>
                <a:latin typeface="Segoe UI"/>
              </a:defRPr>
            </a:pPr>
            <a:r>
              <a:t>Five Multi-Domain Workstreams</a:t>
            </a:r>
          </a:p>
          <a:p>
            <a:pPr>
              <a:spcAft>
                <a:spcPts val="300"/>
              </a:spcAft>
            </a:pPr>
            <a:r>
              <a:rPr sz="900" b="1">
                <a:solidFill>
                  <a:srgbClr val="1E293B"/>
                </a:solidFill>
                <a:latin typeface="Segoe UI"/>
              </a:rPr>
              <a:t>• Supermarket Sales: </a:t>
            </a:r>
            <a:r>
              <a:rPr sz="900">
                <a:solidFill>
                  <a:srgbClr val="334155"/>
                </a:solidFill>
                <a:latin typeface="Segoe UI"/>
              </a:rPr>
              <a:t>2,000 retail transactions; branch revenue, basket size, time-period traffic, and customer ratings.</a:t>
            </a:r>
          </a:p>
          <a:p>
            <a:pPr>
              <a:spcAft>
                <a:spcPts val="300"/>
              </a:spcAft>
            </a:pPr>
            <a:r>
              <a:rPr sz="900" b="1">
                <a:solidFill>
                  <a:srgbClr val="1E293B"/>
                </a:solidFill>
                <a:latin typeface="Segoe UI"/>
              </a:rPr>
              <a:t>• Student Performance: </a:t>
            </a:r>
            <a:r>
              <a:rPr sz="900">
                <a:solidFill>
                  <a:srgbClr val="334155"/>
                </a:solidFill>
                <a:latin typeface="Segoe UI"/>
              </a:rPr>
              <a:t>500 student academic records; study hours, attendance %, subject-wise scores, and performance tiers.</a:t>
            </a:r>
          </a:p>
          <a:p>
            <a:pPr>
              <a:spcAft>
                <a:spcPts val="300"/>
              </a:spcAft>
            </a:pPr>
            <a:r>
              <a:rPr sz="900" b="1">
                <a:solidFill>
                  <a:srgbClr val="1E293B"/>
                </a:solidFill>
                <a:latin typeface="Segoe UI"/>
              </a:rPr>
              <a:t>• Weather Analysis: </a:t>
            </a:r>
            <a:r>
              <a:rPr sz="900">
                <a:solidFill>
                  <a:srgbClr val="334155"/>
                </a:solidFill>
                <a:latin typeface="Segoe UI"/>
              </a:rPr>
              <a:t>365 daily station records; annual rainfall concentration, temperature cycles, and extreme conditions.</a:t>
            </a:r>
          </a:p>
          <a:p>
            <a:pPr>
              <a:spcAft>
                <a:spcPts val="300"/>
              </a:spcAft>
            </a:pPr>
            <a:r>
              <a:rPr sz="900" b="1">
                <a:solidFill>
                  <a:srgbClr val="1E293B"/>
                </a:solidFill>
                <a:latin typeface="Segoe UI"/>
              </a:rPr>
              <a:t>• COVID-19 Healthcare: </a:t>
            </a:r>
            <a:r>
              <a:rPr sz="900">
                <a:solidFill>
                  <a:srgbClr val="334155"/>
                </a:solidFill>
                <a:latin typeface="Segoe UI"/>
              </a:rPr>
              <a:t>1,825 regional tracking logs; case waves, vaccination phases, and regional mortality disparities.</a:t>
            </a:r>
          </a:p>
          <a:p>
            <a:pPr>
              <a:spcAft>
                <a:spcPts val="300"/>
              </a:spcAft>
            </a:pPr>
            <a:r>
              <a:rPr sz="900" b="1">
                <a:solidFill>
                  <a:srgbClr val="1E293B"/>
                </a:solidFill>
                <a:latin typeface="Segoe UI"/>
              </a:rPr>
              <a:t>• Stock Market Risk: </a:t>
            </a:r>
            <a:r>
              <a:rPr sz="900">
                <a:solidFill>
                  <a:srgbClr val="334155"/>
                </a:solidFill>
                <a:latin typeface="Segoe UI"/>
              </a:rPr>
              <a:t>252 trading days; compounded return, price volatility, max drawdown, and Sharpe ratio.</a:t>
            </a:r>
          </a:p>
        </p:txBody>
      </p:sp>
      <p:sp>
        <p:nvSpPr>
          <p:cNvPr id="7" name="Rounded Rectangle 6"/>
          <p:cNvSpPr/>
          <p:nvPr/>
        </p:nvSpPr>
        <p:spPr>
          <a:xfrm>
            <a:off x="4379976" y="2423160"/>
            <a:ext cx="342900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44568" y="2532888"/>
            <a:ext cx="3099816" cy="2174954"/>
          </a:xfrm>
          <a:prstGeom prst="rect">
            <a:avLst/>
          </a:prstGeom>
          <a:noFill/>
        </p:spPr>
        <p:txBody>
          <a:bodyPr wrap="square" lIns="0" tIns="0" rIns="0" bIns="0">
            <a:spAutoFit/>
          </a:bodyPr>
          <a:lstStyle/>
          <a:p>
            <a:pPr>
              <a:spcAft>
                <a:spcPts val="400"/>
              </a:spcAft>
              <a:defRPr sz="1100" b="1">
                <a:solidFill>
                  <a:srgbClr val="0F172A"/>
                </a:solidFill>
                <a:latin typeface="Segoe UI"/>
              </a:defRPr>
            </a:pPr>
            <a:r>
              <a:rPr dirty="0"/>
              <a:t>Statistical Analysis &amp; Metrics</a:t>
            </a:r>
          </a:p>
          <a:p>
            <a:pPr>
              <a:spcAft>
                <a:spcPts val="300"/>
              </a:spcAft>
            </a:pPr>
            <a:r>
              <a:rPr sz="900" b="1" dirty="0">
                <a:solidFill>
                  <a:srgbClr val="1E293B"/>
                </a:solidFill>
                <a:latin typeface="Segoe UI"/>
              </a:rPr>
              <a:t>• Central Tendency: </a:t>
            </a:r>
            <a:r>
              <a:rPr sz="900" dirty="0">
                <a:solidFill>
                  <a:srgbClr val="334155"/>
                </a:solidFill>
                <a:latin typeface="Segoe UI"/>
              </a:rPr>
              <a:t>Mean, median to detect skewness and avoid distortion from outliers.</a:t>
            </a:r>
          </a:p>
          <a:p>
            <a:pPr>
              <a:spcAft>
                <a:spcPts val="300"/>
              </a:spcAft>
            </a:pPr>
            <a:r>
              <a:rPr sz="900" b="1" dirty="0">
                <a:solidFill>
                  <a:srgbClr val="1E293B"/>
                </a:solidFill>
                <a:latin typeface="Segoe UI"/>
              </a:rPr>
              <a:t>• Dispersion &amp; Risk: </a:t>
            </a:r>
            <a:r>
              <a:rPr sz="900" dirty="0">
                <a:solidFill>
                  <a:srgbClr val="334155"/>
                </a:solidFill>
                <a:latin typeface="Segoe UI"/>
              </a:rPr>
              <a:t>Standard deviation, IQR, daily/annualized volatility, and maximum peak-to-trough drawdown.</a:t>
            </a:r>
          </a:p>
          <a:p>
            <a:pPr>
              <a:spcAft>
                <a:spcPts val="300"/>
              </a:spcAft>
            </a:pPr>
            <a:r>
              <a:rPr sz="900" b="1" dirty="0">
                <a:solidFill>
                  <a:srgbClr val="1E293B"/>
                </a:solidFill>
                <a:latin typeface="Segoe UI"/>
              </a:rPr>
              <a:t>• Correlation &amp; Association: </a:t>
            </a:r>
            <a:r>
              <a:rPr sz="900" dirty="0">
                <a:solidFill>
                  <a:srgbClr val="334155"/>
                </a:solidFill>
                <a:latin typeface="Segoe UI"/>
              </a:rPr>
              <a:t>Pearson correlation coefficients and pairwise matrices; strict distinction between correlation and causation.</a:t>
            </a:r>
          </a:p>
          <a:p>
            <a:pPr>
              <a:spcAft>
                <a:spcPts val="300"/>
              </a:spcAft>
            </a:pPr>
            <a:r>
              <a:rPr sz="900" b="1" dirty="0">
                <a:solidFill>
                  <a:srgbClr val="1E293B"/>
                </a:solidFill>
                <a:latin typeface="Segoe UI"/>
              </a:rPr>
              <a:t>• Stratification &amp; Tiers: </a:t>
            </a:r>
            <a:r>
              <a:rPr sz="900" dirty="0">
                <a:solidFill>
                  <a:srgbClr val="334155"/>
                </a:solidFill>
                <a:latin typeface="Segoe UI"/>
              </a:rPr>
              <a:t>Quartile segmentation, performance tiers, and vaccination phase stratification.</a:t>
            </a:r>
          </a:p>
          <a:p>
            <a:pPr>
              <a:spcAft>
                <a:spcPts val="300"/>
              </a:spcAft>
            </a:pPr>
            <a:r>
              <a:rPr sz="900" b="1" dirty="0">
                <a:solidFill>
                  <a:srgbClr val="1E293B"/>
                </a:solidFill>
                <a:latin typeface="Segoe UI"/>
              </a:rPr>
              <a:t>• Time-Series Modeling: </a:t>
            </a:r>
            <a:r>
              <a:rPr lang="en-IN" sz="900" dirty="0"/>
              <a:t>Project-specific statistical analysis included moving averages, seasonal aggregation, and compounded returns.</a:t>
            </a:r>
            <a:endParaRPr sz="900" dirty="0">
              <a:solidFill>
                <a:srgbClr val="334155"/>
              </a:solidFill>
              <a:latin typeface="Segoe UI"/>
            </a:endParaRPr>
          </a:p>
        </p:txBody>
      </p:sp>
      <p:sp>
        <p:nvSpPr>
          <p:cNvPr id="9" name="Rounded Rectangle 8"/>
          <p:cNvSpPr/>
          <p:nvPr/>
        </p:nvSpPr>
        <p:spPr>
          <a:xfrm>
            <a:off x="8028432" y="2423160"/>
            <a:ext cx="342900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93024" y="2532888"/>
            <a:ext cx="3099816" cy="1759456"/>
          </a:xfrm>
          <a:prstGeom prst="rect">
            <a:avLst/>
          </a:prstGeom>
          <a:noFill/>
        </p:spPr>
        <p:txBody>
          <a:bodyPr wrap="square" lIns="0" tIns="0" rIns="0" bIns="0">
            <a:spAutoFit/>
          </a:bodyPr>
          <a:lstStyle/>
          <a:p>
            <a:pPr>
              <a:spcAft>
                <a:spcPts val="400"/>
              </a:spcAft>
              <a:defRPr sz="1100" b="1">
                <a:solidFill>
                  <a:srgbClr val="0F172A"/>
                </a:solidFill>
                <a:latin typeface="Segoe UI"/>
              </a:defRPr>
            </a:pPr>
            <a:r>
              <a:rPr dirty="0"/>
              <a:t>Tech Stack &amp; Engineering Rigor</a:t>
            </a:r>
          </a:p>
          <a:p>
            <a:pPr>
              <a:spcAft>
                <a:spcPts val="300"/>
              </a:spcAft>
            </a:pPr>
            <a:r>
              <a:rPr sz="900" b="1" dirty="0">
                <a:solidFill>
                  <a:srgbClr val="1E293B"/>
                </a:solidFill>
                <a:latin typeface="Segoe UI"/>
              </a:rPr>
              <a:t>• Python Core Stack: </a:t>
            </a:r>
            <a:r>
              <a:rPr sz="900" dirty="0">
                <a:solidFill>
                  <a:srgbClr val="334155"/>
                </a:solidFill>
                <a:latin typeface="Segoe UI"/>
              </a:rPr>
              <a:t>Python 3.13, Pandas 2.2.0, NumPy 1.24.0 for vectorized wrangling and numerical computing.</a:t>
            </a:r>
          </a:p>
          <a:p>
            <a:pPr>
              <a:spcAft>
                <a:spcPts val="300"/>
              </a:spcAft>
            </a:pPr>
            <a:r>
              <a:rPr sz="900" b="1" dirty="0">
                <a:solidFill>
                  <a:srgbClr val="1E293B"/>
                </a:solidFill>
                <a:latin typeface="Segoe UI"/>
              </a:rPr>
              <a:t>• Visualization: </a:t>
            </a:r>
            <a:r>
              <a:rPr sz="900" dirty="0">
                <a:solidFill>
                  <a:srgbClr val="334155"/>
                </a:solidFill>
                <a:latin typeface="Segoe UI"/>
              </a:rPr>
              <a:t>Matplotlib 3.8.0 and Seaborn 0.13.0 for publication-grade, accessible, labeled figures.</a:t>
            </a:r>
          </a:p>
          <a:p>
            <a:pPr>
              <a:spcAft>
                <a:spcPts val="300"/>
              </a:spcAft>
            </a:pPr>
            <a:r>
              <a:rPr sz="900" b="1" dirty="0">
                <a:solidFill>
                  <a:srgbClr val="1E293B"/>
                </a:solidFill>
                <a:latin typeface="Segoe UI"/>
              </a:rPr>
              <a:t>• Reporting &amp; Docs: </a:t>
            </a:r>
            <a:r>
              <a:rPr sz="900" dirty="0">
                <a:solidFill>
                  <a:srgbClr val="334155"/>
                </a:solidFill>
                <a:latin typeface="Segoe UI"/>
              </a:rPr>
              <a:t>FPDF2 2.7.8 for automated executive PDF generation directly from python code.</a:t>
            </a:r>
          </a:p>
          <a:p>
            <a:pPr>
              <a:spcAft>
                <a:spcPts val="300"/>
              </a:spcAft>
            </a:pPr>
            <a:r>
              <a:rPr sz="900" b="1" dirty="0">
                <a:solidFill>
                  <a:srgbClr val="1E293B"/>
                </a:solidFill>
                <a:latin typeface="Segoe UI"/>
              </a:rPr>
              <a:t>• Automated </a:t>
            </a:r>
            <a:r>
              <a:rPr sz="900" b="1" dirty="0" err="1">
                <a:solidFill>
                  <a:srgbClr val="1E293B"/>
                </a:solidFill>
                <a:latin typeface="Segoe UI"/>
              </a:rPr>
              <a:t>Pytest</a:t>
            </a:r>
            <a:r>
              <a:rPr sz="900" b="1" dirty="0">
                <a:solidFill>
                  <a:srgbClr val="1E293B"/>
                </a:solidFill>
                <a:latin typeface="Segoe UI"/>
              </a:rPr>
              <a:t>: </a:t>
            </a:r>
            <a:r>
              <a:rPr sz="900" dirty="0" err="1">
                <a:solidFill>
                  <a:srgbClr val="334155"/>
                </a:solidFill>
                <a:latin typeface="Segoe UI"/>
              </a:rPr>
              <a:t>Pytest</a:t>
            </a:r>
            <a:r>
              <a:rPr sz="900" dirty="0">
                <a:solidFill>
                  <a:srgbClr val="334155"/>
                </a:solidFill>
                <a:latin typeface="Segoe UI"/>
              </a:rPr>
              <a:t> suite verifying dataset shapes, missing values, duplicates (18 tests passed).</a:t>
            </a:r>
          </a:p>
          <a:p>
            <a:pPr>
              <a:spcAft>
                <a:spcPts val="300"/>
              </a:spcAft>
            </a:pPr>
            <a:r>
              <a:rPr sz="900" b="1" dirty="0">
                <a:solidFill>
                  <a:srgbClr val="1E293B"/>
                </a:solidFill>
                <a:latin typeface="Segoe UI"/>
              </a:rPr>
              <a:t>• Integrity Principle: </a:t>
            </a:r>
            <a:r>
              <a:rPr sz="900" dirty="0">
                <a:solidFill>
                  <a:srgbClr val="334155"/>
                </a:solidFill>
                <a:latin typeface="Segoe UI"/>
              </a:rPr>
              <a:t>Zero artificial smoothing; raw source anomalies are documented as limitations, never fabricated.</a:t>
            </a:r>
          </a:p>
        </p:txBody>
      </p:sp>
      <p:sp>
        <p:nvSpPr>
          <p:cNvPr id="11" name="Rectangle 10"/>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13" name="TextBox 12"/>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02 of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PROJECT 01: RETAIL &amp; COMMERCE</a:t>
            </a:r>
          </a:p>
          <a:p>
            <a:pPr>
              <a:spcAft>
                <a:spcPts val="200"/>
              </a:spcAft>
              <a:defRPr sz="2000" b="1">
                <a:solidFill>
                  <a:srgbClr val="0F172A"/>
                </a:solidFill>
                <a:latin typeface="Segoe UI"/>
              </a:defRPr>
            </a:pPr>
            <a:r>
              <a:t>Supermarket Sales Analysis</a:t>
            </a:r>
          </a:p>
          <a:p>
            <a:pPr>
              <a:defRPr sz="1100">
                <a:solidFill>
                  <a:srgbClr val="64748B"/>
                </a:solidFill>
                <a:latin typeface="Segoe UI"/>
              </a:defRPr>
            </a:pPr>
            <a:r>
              <a:t>2,000 retail transactions evaluated across 3 branch locations, 6 product categories, and full-year 2023 seasonality</a:t>
            </a:r>
          </a:p>
        </p:txBody>
      </p:sp>
      <p:sp>
        <p:nvSpPr>
          <p:cNvPr id="3" name="Rounded Rectangle 2"/>
          <p:cNvSpPr/>
          <p:nvPr/>
        </p:nvSpPr>
        <p:spPr>
          <a:xfrm>
            <a:off x="731520"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₹519,280.69</a:t>
            </a:r>
          </a:p>
          <a:p>
            <a:pPr algn="ctr">
              <a:defRPr sz="800" b="1">
                <a:solidFill>
                  <a:srgbClr val="0F172A"/>
                </a:solidFill>
                <a:latin typeface="Segoe UI"/>
              </a:defRPr>
            </a:pPr>
            <a:r>
              <a:t>TOTAL REVENUE</a:t>
            </a:r>
          </a:p>
          <a:p>
            <a:pPr algn="ctr">
              <a:defRPr sz="750">
                <a:solidFill>
                  <a:srgbClr val="64748B"/>
                </a:solidFill>
                <a:latin typeface="Segoe UI"/>
              </a:defRPr>
            </a:pPr>
            <a:r>
              <a:t>2,000 Transactions</a:t>
            </a:r>
          </a:p>
        </p:txBody>
      </p:sp>
      <p:sp>
        <p:nvSpPr>
          <p:cNvPr id="5" name="Rounded Rectangle 4"/>
          <p:cNvSpPr/>
          <p:nvPr/>
        </p:nvSpPr>
        <p:spPr>
          <a:xfrm>
            <a:off x="2478024"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51176"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₹259.64</a:t>
            </a:r>
          </a:p>
          <a:p>
            <a:pPr algn="ctr">
              <a:defRPr sz="800" b="1">
                <a:solidFill>
                  <a:srgbClr val="0F172A"/>
                </a:solidFill>
                <a:latin typeface="Segoe UI"/>
              </a:defRPr>
            </a:pPr>
            <a:r>
              <a:t>AVG TRANSACTION</a:t>
            </a:r>
          </a:p>
          <a:p>
            <a:pPr algn="ctr">
              <a:defRPr sz="750">
                <a:solidFill>
                  <a:srgbClr val="64748B"/>
                </a:solidFill>
                <a:latin typeface="Segoe UI"/>
              </a:defRPr>
            </a:pPr>
            <a:r>
              <a:t>Median: ₹258.04</a:t>
            </a:r>
          </a:p>
        </p:txBody>
      </p:sp>
      <p:sp>
        <p:nvSpPr>
          <p:cNvPr id="7" name="Rounded Rectangle 6"/>
          <p:cNvSpPr/>
          <p:nvPr/>
        </p:nvSpPr>
        <p:spPr>
          <a:xfrm>
            <a:off x="4224528"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6.96 / 10</a:t>
            </a:r>
          </a:p>
          <a:p>
            <a:pPr algn="ctr">
              <a:defRPr sz="800" b="1">
                <a:solidFill>
                  <a:srgbClr val="0F172A"/>
                </a:solidFill>
                <a:latin typeface="Segoe UI"/>
              </a:defRPr>
            </a:pPr>
            <a:r>
              <a:t>AVG SATISFACTION</a:t>
            </a:r>
          </a:p>
          <a:p>
            <a:pPr algn="ctr">
              <a:defRPr sz="750">
                <a:solidFill>
                  <a:srgbClr val="64748B"/>
                </a:solidFill>
                <a:latin typeface="Segoe UI"/>
              </a:defRPr>
            </a:pPr>
            <a:r>
              <a:t>Median: 6.95 / 10</a:t>
            </a:r>
          </a:p>
        </p:txBody>
      </p:sp>
      <p:sp>
        <p:nvSpPr>
          <p:cNvPr id="9" name="Rounded Rectangle 8"/>
          <p:cNvSpPr/>
          <p:nvPr/>
        </p:nvSpPr>
        <p:spPr>
          <a:xfrm>
            <a:off x="731520" y="2304288"/>
            <a:ext cx="51206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414016"/>
            <a:ext cx="4791456" cy="2523744"/>
          </a:xfrm>
          <a:prstGeom prst="rect">
            <a:avLst/>
          </a:prstGeom>
          <a:noFill/>
        </p:spPr>
        <p:txBody>
          <a:bodyPr wrap="square" lIns="0" tIns="0" rIns="0" bIns="0">
            <a:spAutoFit/>
          </a:bodyPr>
          <a:lstStyle/>
          <a:p>
            <a:pPr>
              <a:spcAft>
                <a:spcPts val="400"/>
              </a:spcAft>
              <a:defRPr sz="1100" b="1">
                <a:solidFill>
                  <a:srgbClr val="0F172A"/>
                </a:solidFill>
                <a:latin typeface="Segoe UI"/>
              </a:defRPr>
            </a:pPr>
            <a:r>
              <a:t>Key Analytical Findings &amp; Segment Profiles</a:t>
            </a:r>
          </a:p>
          <a:p>
            <a:pPr>
              <a:spcAft>
                <a:spcPts val="300"/>
              </a:spcAft>
            </a:pPr>
            <a:r>
              <a:rPr sz="900" b="1">
                <a:solidFill>
                  <a:srgbClr val="1E293B"/>
                </a:solidFill>
                <a:latin typeface="Segoe UI"/>
              </a:rPr>
              <a:t>• Branch Performance: </a:t>
            </a:r>
            <a:r>
              <a:rPr sz="900">
                <a:solidFill>
                  <a:srgbClr val="334155"/>
                </a:solidFill>
                <a:latin typeface="Segoe UI"/>
              </a:rPr>
              <a:t>Branch B leads at ₹180,821.79 (34.8%), Branch A closely tied at ₹179,047.93 (34.5%), while Branch C underperforms at ₹159,410.97 (30.7%, a 4.1% revenue gap).</a:t>
            </a:r>
          </a:p>
          <a:p>
            <a:pPr>
              <a:spcAft>
                <a:spcPts val="300"/>
              </a:spcAft>
            </a:pPr>
            <a:r>
              <a:rPr sz="900" b="1">
                <a:solidFill>
                  <a:srgbClr val="1E293B"/>
                </a:solidFill>
                <a:latin typeface="Segoe UI"/>
              </a:rPr>
              <a:t>• Afternoon Peak (12–5 PM): </a:t>
            </a:r>
            <a:r>
              <a:rPr sz="900">
                <a:solidFill>
                  <a:srgbClr val="334155"/>
                </a:solidFill>
                <a:latin typeface="Segoe UI"/>
              </a:rPr>
              <a:t>42.2% of daily transactions (844 txns) occur in the afternoon rush, generating 9.7% more volume than morning (32.5%) and evening (25.4%).</a:t>
            </a:r>
          </a:p>
          <a:p>
            <a:pPr>
              <a:spcAft>
                <a:spcPts val="300"/>
              </a:spcAft>
            </a:pPr>
            <a:r>
              <a:rPr sz="900" b="1">
                <a:solidFill>
                  <a:srgbClr val="1E293B"/>
                </a:solidFill>
                <a:latin typeface="Segoe UI"/>
              </a:rPr>
              <a:t>• Product Balance: </a:t>
            </a:r>
            <a:r>
              <a:rPr sz="900">
                <a:solidFill>
                  <a:srgbClr val="334155"/>
                </a:solidFill>
                <a:latin typeface="Segoe UI"/>
              </a:rPr>
              <a:t>Health &amp; Beauty leads at ₹96,970.32 (18.7%), followed by Sports &amp; Travel (17.6%). The spread across all 6 categories is tight (3.8% spread), indicating stable demand.</a:t>
            </a:r>
          </a:p>
          <a:p>
            <a:pPr>
              <a:spcAft>
                <a:spcPts val="300"/>
              </a:spcAft>
            </a:pPr>
            <a:r>
              <a:rPr sz="900" b="1">
                <a:solidFill>
                  <a:srgbClr val="1E293B"/>
                </a:solidFill>
                <a:latin typeface="Segoe UI"/>
              </a:rPr>
              <a:t>• Member Volume Dynamics: </a:t>
            </a:r>
            <a:r>
              <a:rPr sz="900">
                <a:solidFill>
                  <a:srgbClr val="334155"/>
                </a:solidFill>
                <a:latin typeface="Segoe UI"/>
              </a:rPr>
              <a:t>Members generate +₹4,558 more total revenue via higher visit frequency (+36 txns), not higher basket size (Normal spends 1.86% more per visit: ₹262.08 vs ₹257.29).</a:t>
            </a:r>
          </a:p>
          <a:p>
            <a:pPr>
              <a:spcAft>
                <a:spcPts val="300"/>
              </a:spcAft>
            </a:pPr>
            <a:r>
              <a:rPr sz="900" b="1">
                <a:solidFill>
                  <a:srgbClr val="1E293B"/>
                </a:solidFill>
                <a:latin typeface="Segoe UI"/>
              </a:rPr>
              <a:t>• Gender Patterns: </a:t>
            </a:r>
            <a:r>
              <a:rPr sz="900">
                <a:solidFill>
                  <a:srgbClr val="334155"/>
                </a:solidFill>
                <a:latin typeface="Segoe UI"/>
              </a:rPr>
              <a:t>Female shoppers generated 3.68% higher total revenue (1,019 vs 981 txns) with higher satisfaction ratings (7.03 vs 6.88).</a:t>
            </a:r>
          </a:p>
        </p:txBody>
      </p:sp>
      <p:sp>
        <p:nvSpPr>
          <p:cNvPr id="11" name="Rounded Rectangle 10"/>
          <p:cNvSpPr/>
          <p:nvPr/>
        </p:nvSpPr>
        <p:spPr>
          <a:xfrm>
            <a:off x="731520" y="5138928"/>
            <a:ext cx="5120640" cy="1115568"/>
          </a:xfrm>
          <a:prstGeom prst="roundRect">
            <a:avLst/>
          </a:prstGeom>
          <a:solidFill>
            <a:srgbClr val="FEF3C7"/>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5212080"/>
            <a:ext cx="4901184" cy="969264"/>
          </a:xfrm>
          <a:prstGeom prst="rect">
            <a:avLst/>
          </a:prstGeom>
          <a:noFill/>
        </p:spPr>
        <p:txBody>
          <a:bodyPr wrap="square" lIns="0" tIns="0" rIns="0" bIns="0">
            <a:spAutoFit/>
          </a:bodyPr>
          <a:lstStyle/>
          <a:p>
            <a:pPr>
              <a:spcAft>
                <a:spcPts val="200"/>
              </a:spcAft>
              <a:defRPr sz="900" b="1">
                <a:solidFill>
                  <a:srgbClr val="B45309"/>
                </a:solidFill>
                <a:latin typeface="Segoe UI"/>
              </a:defRPr>
            </a:pPr>
            <a:r>
              <a:t>[DATA QUALITY LIMITATION]  Financial Consistency Discrepancy</a:t>
            </a:r>
          </a:p>
          <a:p>
            <a:pPr>
              <a:defRPr sz="819">
                <a:solidFill>
                  <a:srgbClr val="1E293B"/>
                </a:solidFill>
                <a:latin typeface="Segoe UI"/>
              </a:defRPr>
            </a:pPr>
            <a:r>
              <a:t>The supplied dataset contains a discrepancy between the provided 'Total' column and the calculated 'Unit Price × Quantity + Tax' for most transactions. Original Total values were strictly retained without modification to preserve raw source data integrity.</a:t>
            </a:r>
          </a:p>
        </p:txBody>
      </p:sp>
      <p:sp>
        <p:nvSpPr>
          <p:cNvPr id="13" name="Rounded Rectangle 12"/>
          <p:cNvSpPr/>
          <p:nvPr/>
        </p:nvSpPr>
        <p:spPr>
          <a:xfrm>
            <a:off x="6035040" y="141732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472184"/>
            <a:ext cx="5242255" cy="228600"/>
          </a:xfrm>
          <a:prstGeom prst="rect">
            <a:avLst/>
          </a:prstGeom>
          <a:noFill/>
        </p:spPr>
        <p:txBody>
          <a:bodyPr wrap="none" lIns="0" tIns="0" rIns="0" bIns="0">
            <a:spAutoFit/>
          </a:bodyPr>
          <a:lstStyle/>
          <a:p>
            <a:pPr>
              <a:defRPr sz="850" b="1">
                <a:solidFill>
                  <a:srgbClr val="1E293B"/>
                </a:solidFill>
                <a:latin typeface="Segoe UI"/>
              </a:defRPr>
            </a:pPr>
            <a:r>
              <a:t>Figure 1.1: Total Revenue and Transaction Volume by Branch</a:t>
            </a:r>
          </a:p>
        </p:txBody>
      </p:sp>
      <p:pic>
        <p:nvPicPr>
          <p:cNvPr id="15" name="Picture 14" descr="02_branch_performance.png"/>
          <p:cNvPicPr>
            <a:picLocks noChangeAspect="1"/>
          </p:cNvPicPr>
          <p:nvPr/>
        </p:nvPicPr>
        <p:blipFill>
          <a:blip r:embed="rId2"/>
          <a:stretch>
            <a:fillRect/>
          </a:stretch>
        </p:blipFill>
        <p:spPr>
          <a:xfrm>
            <a:off x="6126480" y="1709928"/>
            <a:ext cx="5242255" cy="2029968"/>
          </a:xfrm>
          <a:prstGeom prst="rect">
            <a:avLst/>
          </a:prstGeom>
        </p:spPr>
      </p:pic>
      <p:sp>
        <p:nvSpPr>
          <p:cNvPr id="16" name="Rounded Rectangle 15"/>
          <p:cNvSpPr/>
          <p:nvPr/>
        </p:nvSpPr>
        <p:spPr>
          <a:xfrm>
            <a:off x="6035040" y="388620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3941064"/>
            <a:ext cx="5242255" cy="228600"/>
          </a:xfrm>
          <a:prstGeom prst="rect">
            <a:avLst/>
          </a:prstGeom>
          <a:noFill/>
        </p:spPr>
        <p:txBody>
          <a:bodyPr wrap="none" lIns="0" tIns="0" rIns="0" bIns="0">
            <a:spAutoFit/>
          </a:bodyPr>
          <a:lstStyle/>
          <a:p>
            <a:pPr>
              <a:defRPr sz="850" b="1">
                <a:solidFill>
                  <a:srgbClr val="1E293B"/>
                </a:solidFill>
                <a:latin typeface="Segoe UI"/>
              </a:defRPr>
            </a:pPr>
            <a:r>
              <a:t>Figure 1.2: Hourly Shopping Distribution &amp; Afternoon Peak Concentration</a:t>
            </a:r>
          </a:p>
        </p:txBody>
      </p:sp>
      <p:pic>
        <p:nvPicPr>
          <p:cNvPr id="18" name="Picture 17" descr="01_time_period_distribution.png"/>
          <p:cNvPicPr>
            <a:picLocks noChangeAspect="1"/>
          </p:cNvPicPr>
          <p:nvPr/>
        </p:nvPicPr>
        <p:blipFill>
          <a:blip r:embed="rId3"/>
          <a:stretch>
            <a:fillRect/>
          </a:stretch>
        </p:blipFill>
        <p:spPr>
          <a:xfrm>
            <a:off x="6126480" y="4178808"/>
            <a:ext cx="5242255" cy="2029968"/>
          </a:xfrm>
          <a:prstGeom prst="rect">
            <a:avLst/>
          </a:prstGeom>
        </p:spPr>
      </p:pic>
      <p:sp>
        <p:nvSpPr>
          <p:cNvPr id="19" name="Rectangle 18"/>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21" name="TextBox 20"/>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03 of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PROJECT 02: ACADEMIC &amp; EDUCATION</a:t>
            </a:r>
          </a:p>
          <a:p>
            <a:pPr>
              <a:spcAft>
                <a:spcPts val="200"/>
              </a:spcAft>
              <a:defRPr sz="2000" b="1">
                <a:solidFill>
                  <a:srgbClr val="0F172A"/>
                </a:solidFill>
                <a:latin typeface="Segoe UI"/>
              </a:defRPr>
            </a:pPr>
            <a:r>
              <a:t>Student Performance Analysis</a:t>
            </a:r>
          </a:p>
          <a:p>
            <a:pPr>
              <a:defRPr sz="1100">
                <a:solidFill>
                  <a:srgbClr val="64748B"/>
                </a:solidFill>
                <a:latin typeface="Segoe UI"/>
              </a:defRPr>
            </a:pPr>
            <a:r>
              <a:t>500 student records evaluated across 4 academic subjects, attendance rates, study hours, and performance tiers</a:t>
            </a:r>
          </a:p>
        </p:txBody>
      </p:sp>
      <p:sp>
        <p:nvSpPr>
          <p:cNvPr id="3" name="Rounded Rectangle 2"/>
          <p:cNvSpPr/>
          <p:nvPr/>
        </p:nvSpPr>
        <p:spPr>
          <a:xfrm>
            <a:off x="731520"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90472"/>
            <a:ext cx="1481328" cy="469359"/>
          </a:xfrm>
          <a:prstGeom prst="rect">
            <a:avLst/>
          </a:prstGeom>
          <a:noFill/>
        </p:spPr>
        <p:txBody>
          <a:bodyPr wrap="square" lIns="0" tIns="0" rIns="0" bIns="0">
            <a:spAutoFit/>
          </a:bodyPr>
          <a:lstStyle/>
          <a:p>
            <a:pPr algn="ctr">
              <a:defRPr sz="1500" b="1">
                <a:solidFill>
                  <a:srgbClr val="0D9488"/>
                </a:solidFill>
                <a:latin typeface="Segoe UI"/>
              </a:defRPr>
            </a:pPr>
            <a:r>
              <a:rPr dirty="0"/>
              <a:t>74.</a:t>
            </a:r>
            <a:r>
              <a:rPr lang="en-IN" dirty="0"/>
              <a:t>25</a:t>
            </a:r>
            <a:endParaRPr dirty="0"/>
          </a:p>
          <a:p>
            <a:pPr algn="ctr">
              <a:defRPr sz="800" b="1">
                <a:solidFill>
                  <a:srgbClr val="0F172A"/>
                </a:solidFill>
                <a:latin typeface="Segoe UI"/>
              </a:defRPr>
            </a:pPr>
            <a:r>
              <a:rPr dirty="0"/>
              <a:t>AVERAGE SCORE</a:t>
            </a:r>
          </a:p>
          <a:p>
            <a:pPr algn="ctr">
              <a:defRPr sz="750">
                <a:solidFill>
                  <a:srgbClr val="64748B"/>
                </a:solidFill>
                <a:latin typeface="Segoe UI"/>
              </a:defRPr>
            </a:pPr>
            <a:r>
              <a:rPr dirty="0"/>
              <a:t>Median: 74.25 (100% Pass)</a:t>
            </a:r>
          </a:p>
        </p:txBody>
      </p:sp>
      <p:sp>
        <p:nvSpPr>
          <p:cNvPr id="5" name="Rounded Rectangle 4"/>
          <p:cNvSpPr/>
          <p:nvPr/>
        </p:nvSpPr>
        <p:spPr>
          <a:xfrm>
            <a:off x="2478024"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51176"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r = +0.077</a:t>
            </a:r>
          </a:p>
          <a:p>
            <a:pPr algn="ctr">
              <a:defRPr sz="800" b="1">
                <a:solidFill>
                  <a:srgbClr val="0F172A"/>
                </a:solidFill>
                <a:latin typeface="Segoe UI"/>
              </a:defRPr>
            </a:pPr>
            <a:r>
              <a:t>ATTENDANCE CORR</a:t>
            </a:r>
          </a:p>
          <a:p>
            <a:pPr algn="ctr">
              <a:defRPr sz="750">
                <a:solidFill>
                  <a:srgbClr val="64748B"/>
                </a:solidFill>
                <a:latin typeface="Segoe UI"/>
              </a:defRPr>
            </a:pPr>
            <a:r>
              <a:t>Very Weak Linear Assoc</a:t>
            </a:r>
          </a:p>
        </p:txBody>
      </p:sp>
      <p:sp>
        <p:nvSpPr>
          <p:cNvPr id="7" name="Rounded Rectangle 6"/>
          <p:cNvSpPr/>
          <p:nvPr/>
        </p:nvSpPr>
        <p:spPr>
          <a:xfrm>
            <a:off x="4224528"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r = +0.096</a:t>
            </a:r>
          </a:p>
          <a:p>
            <a:pPr algn="ctr">
              <a:defRPr sz="800" b="1">
                <a:solidFill>
                  <a:srgbClr val="0F172A"/>
                </a:solidFill>
                <a:latin typeface="Segoe UI"/>
              </a:defRPr>
            </a:pPr>
            <a:r>
              <a:t>STUDY HOURS CORR</a:t>
            </a:r>
          </a:p>
          <a:p>
            <a:pPr algn="ctr">
              <a:defRPr sz="750">
                <a:solidFill>
                  <a:srgbClr val="64748B"/>
                </a:solidFill>
                <a:latin typeface="Segoe UI"/>
              </a:defRPr>
            </a:pPr>
            <a:r>
              <a:t>Very Weak Linear Assoc</a:t>
            </a:r>
          </a:p>
        </p:txBody>
      </p:sp>
      <p:sp>
        <p:nvSpPr>
          <p:cNvPr id="9" name="Rounded Rectangle 8"/>
          <p:cNvSpPr/>
          <p:nvPr/>
        </p:nvSpPr>
        <p:spPr>
          <a:xfrm>
            <a:off x="731520" y="2304288"/>
            <a:ext cx="51206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414016"/>
            <a:ext cx="4791456" cy="2523744"/>
          </a:xfrm>
          <a:prstGeom prst="rect">
            <a:avLst/>
          </a:prstGeom>
          <a:noFill/>
        </p:spPr>
        <p:txBody>
          <a:bodyPr wrap="square" lIns="0" tIns="0" rIns="0" bIns="0">
            <a:spAutoFit/>
          </a:bodyPr>
          <a:lstStyle/>
          <a:p>
            <a:pPr>
              <a:spcAft>
                <a:spcPts val="400"/>
              </a:spcAft>
              <a:defRPr sz="1100" b="1">
                <a:solidFill>
                  <a:srgbClr val="0F172A"/>
                </a:solidFill>
                <a:latin typeface="Segoe UI"/>
              </a:defRPr>
            </a:pPr>
            <a:r>
              <a:t>Academic Insights &amp; Student Segmentation</a:t>
            </a:r>
          </a:p>
          <a:p>
            <a:pPr>
              <a:spcAft>
                <a:spcPts val="300"/>
              </a:spcAft>
            </a:pPr>
            <a:r>
              <a:rPr sz="900" b="1">
                <a:solidFill>
                  <a:srgbClr val="1E293B"/>
                </a:solidFill>
                <a:latin typeface="Segoe UI"/>
              </a:rPr>
              <a:t>• Grade Distribution: </a:t>
            </a:r>
            <a:r>
              <a:rPr sz="900">
                <a:solidFill>
                  <a:srgbClr val="334155"/>
                </a:solidFill>
                <a:latin typeface="Segoe UI"/>
              </a:rPr>
              <a:t>Grade A: 27.4% (137 students), Grade B: 40.6% (203), Grade C: 25.8% (129), Grade D: 5.8% (29), Grade F: 0.4% (2). Overall pass rate was 100%.</a:t>
            </a:r>
          </a:p>
          <a:p>
            <a:pPr>
              <a:spcAft>
                <a:spcPts val="300"/>
              </a:spcAft>
            </a:pPr>
            <a:r>
              <a:rPr sz="900" b="1">
                <a:solidFill>
                  <a:srgbClr val="1E293B"/>
                </a:solidFill>
                <a:latin typeface="Segoe UI"/>
              </a:rPr>
              <a:t>• Subject Independence: </a:t>
            </a:r>
            <a:r>
              <a:rPr sz="900">
                <a:solidFill>
                  <a:srgbClr val="334155"/>
                </a:solidFill>
                <a:latin typeface="Segoe UI"/>
              </a:rPr>
              <a:t>Pairwise subject correlations are near zero (r = -0.069 to +0.063). Strong performance in Math does not linearly imply strong performance in Social Studies.</a:t>
            </a:r>
          </a:p>
          <a:p>
            <a:pPr>
              <a:spcAft>
                <a:spcPts val="300"/>
              </a:spcAft>
            </a:pPr>
            <a:r>
              <a:rPr sz="900" b="1">
                <a:solidFill>
                  <a:srgbClr val="1E293B"/>
                </a:solidFill>
                <a:latin typeface="Segoe UI"/>
              </a:rPr>
              <a:t>• Tier Disparities vs Effort: </a:t>
            </a:r>
            <a:r>
              <a:rPr sz="900">
                <a:solidFill>
                  <a:srgbClr val="334155"/>
                </a:solidFill>
                <a:latin typeface="Segoe UI"/>
              </a:rPr>
              <a:t>High Performers (27.4%) average 85.97, while Low Performers (6.2%) average 56.28. However, High vs Low attendance differs by only 2.97% (77.4% vs 74.4%) and study time by only 2.32 hrs/wk (24.2 vs 21.9 hrs).</a:t>
            </a:r>
          </a:p>
          <a:p>
            <a:pPr>
              <a:spcAft>
                <a:spcPts val="300"/>
              </a:spcAft>
            </a:pPr>
            <a:r>
              <a:rPr sz="900" b="1">
                <a:solidFill>
                  <a:srgbClr val="1E293B"/>
                </a:solidFill>
                <a:latin typeface="Segoe UI"/>
              </a:rPr>
              <a:t>• Subject-Wide Consistency: </a:t>
            </a:r>
            <a:r>
              <a:rPr sz="900">
                <a:solidFill>
                  <a:srgbClr val="334155"/>
                </a:solidFill>
                <a:latin typeface="Segoe UI"/>
              </a:rPr>
              <a:t>High performers score 84–88 across all four subjects, while low performers score 52–60 across all four, indicating broad multi-subject separation.</a:t>
            </a:r>
          </a:p>
          <a:p>
            <a:pPr>
              <a:spcAft>
                <a:spcPts val="300"/>
              </a:spcAft>
            </a:pPr>
            <a:r>
              <a:rPr sz="900" b="1">
                <a:solidFill>
                  <a:srgbClr val="1E293B"/>
                </a:solidFill>
                <a:latin typeface="Segoe UI"/>
              </a:rPr>
              <a:t>• Actionable Takeaway: </a:t>
            </a:r>
            <a:r>
              <a:rPr sz="900">
                <a:solidFill>
                  <a:srgbClr val="334155"/>
                </a:solidFill>
                <a:latin typeface="Segoe UI"/>
              </a:rPr>
              <a:t>Mere attendance enforcement and counting study hours explain little outcome variation; academic interventions must target study quality and core conceptual mastery.</a:t>
            </a:r>
          </a:p>
        </p:txBody>
      </p:sp>
      <p:sp>
        <p:nvSpPr>
          <p:cNvPr id="11" name="Rounded Rectangle 10"/>
          <p:cNvSpPr/>
          <p:nvPr/>
        </p:nvSpPr>
        <p:spPr>
          <a:xfrm>
            <a:off x="731520" y="5138928"/>
            <a:ext cx="5120640" cy="111556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5212080"/>
            <a:ext cx="4901184" cy="969264"/>
          </a:xfrm>
          <a:prstGeom prst="rect">
            <a:avLst/>
          </a:prstGeom>
          <a:noFill/>
        </p:spPr>
        <p:txBody>
          <a:bodyPr wrap="square" lIns="0" tIns="0" rIns="0" bIns="0">
            <a:spAutoFit/>
          </a:bodyPr>
          <a:lstStyle/>
          <a:p>
            <a:pPr>
              <a:spcAft>
                <a:spcPts val="200"/>
              </a:spcAft>
              <a:defRPr sz="900" b="1">
                <a:solidFill>
                  <a:srgbClr val="0284C7"/>
                </a:solidFill>
                <a:latin typeface="Segoe UI"/>
              </a:defRPr>
            </a:pPr>
            <a:r>
              <a:t>[ANALYTICAL CAUTION]  Avoid Causal &amp; Innate Ability Claims</a:t>
            </a:r>
          </a:p>
          <a:p>
            <a:pPr>
              <a:defRPr sz="819">
                <a:solidFill>
                  <a:srgbClr val="1E293B"/>
                </a:solidFill>
                <a:latin typeface="Segoe UI"/>
              </a:defRPr>
            </a:pPr>
            <a:r>
              <a:t>The weak correlations demonstrate that measured effort quantity explains little score variance. However, this observational dataset lacks variables on teaching quality, prior preparation, home environment, or study effectiveness. It does NOT prove innate ability or genetic causation.</a:t>
            </a:r>
          </a:p>
        </p:txBody>
      </p:sp>
      <p:sp>
        <p:nvSpPr>
          <p:cNvPr id="13" name="Rounded Rectangle 12"/>
          <p:cNvSpPr/>
          <p:nvPr/>
        </p:nvSpPr>
        <p:spPr>
          <a:xfrm>
            <a:off x="6035040" y="141732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472184"/>
            <a:ext cx="5242255" cy="228600"/>
          </a:xfrm>
          <a:prstGeom prst="rect">
            <a:avLst/>
          </a:prstGeom>
          <a:noFill/>
        </p:spPr>
        <p:txBody>
          <a:bodyPr wrap="none" lIns="0" tIns="0" rIns="0" bIns="0">
            <a:spAutoFit/>
          </a:bodyPr>
          <a:lstStyle/>
          <a:p>
            <a:pPr>
              <a:defRPr sz="850" b="1">
                <a:solidFill>
                  <a:srgbClr val="1E293B"/>
                </a:solidFill>
                <a:latin typeface="Segoe UI"/>
              </a:defRPr>
            </a:pPr>
            <a:r>
              <a:t>Figure 2.1: Academic Grade Distribution Across 500 Students</a:t>
            </a:r>
          </a:p>
        </p:txBody>
      </p:sp>
      <p:pic>
        <p:nvPicPr>
          <p:cNvPr id="15" name="Picture 14" descr="07_grade_distribution.png"/>
          <p:cNvPicPr>
            <a:picLocks noChangeAspect="1"/>
          </p:cNvPicPr>
          <p:nvPr/>
        </p:nvPicPr>
        <p:blipFill>
          <a:blip r:embed="rId2"/>
          <a:stretch>
            <a:fillRect/>
          </a:stretch>
        </p:blipFill>
        <p:spPr>
          <a:xfrm>
            <a:off x="6126480" y="1709928"/>
            <a:ext cx="5242255" cy="2029968"/>
          </a:xfrm>
          <a:prstGeom prst="rect">
            <a:avLst/>
          </a:prstGeom>
        </p:spPr>
      </p:pic>
      <p:sp>
        <p:nvSpPr>
          <p:cNvPr id="16" name="Rounded Rectangle 15"/>
          <p:cNvSpPr/>
          <p:nvPr/>
        </p:nvSpPr>
        <p:spPr>
          <a:xfrm>
            <a:off x="6035040" y="388620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3941064"/>
            <a:ext cx="5242255" cy="228600"/>
          </a:xfrm>
          <a:prstGeom prst="rect">
            <a:avLst/>
          </a:prstGeom>
          <a:noFill/>
        </p:spPr>
        <p:txBody>
          <a:bodyPr wrap="none" lIns="0" tIns="0" rIns="0" bIns="0">
            <a:spAutoFit/>
          </a:bodyPr>
          <a:lstStyle/>
          <a:p>
            <a:pPr>
              <a:defRPr sz="850" b="1">
                <a:solidFill>
                  <a:srgbClr val="1E293B"/>
                </a:solidFill>
                <a:latin typeface="Segoe UI"/>
              </a:defRPr>
            </a:pPr>
            <a:r>
              <a:t>Figure 2.2: Subject Score Consistency Across Performance Tiers</a:t>
            </a:r>
          </a:p>
        </p:txBody>
      </p:sp>
      <p:pic>
        <p:nvPicPr>
          <p:cNvPr id="18" name="Picture 17" descr="09_subject_performance_heatmap.png"/>
          <p:cNvPicPr>
            <a:picLocks noChangeAspect="1"/>
          </p:cNvPicPr>
          <p:nvPr/>
        </p:nvPicPr>
        <p:blipFill>
          <a:blip r:embed="rId3"/>
          <a:stretch>
            <a:fillRect/>
          </a:stretch>
        </p:blipFill>
        <p:spPr>
          <a:xfrm>
            <a:off x="6126480" y="4178808"/>
            <a:ext cx="5242255" cy="2029968"/>
          </a:xfrm>
          <a:prstGeom prst="rect">
            <a:avLst/>
          </a:prstGeom>
        </p:spPr>
      </p:pic>
      <p:sp>
        <p:nvSpPr>
          <p:cNvPr id="19" name="Rectangle 18"/>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21" name="TextBox 20"/>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04 of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PROJECT 03: METEOROLOGY &amp; ENVIRONMENT</a:t>
            </a:r>
          </a:p>
          <a:p>
            <a:pPr>
              <a:spcAft>
                <a:spcPts val="200"/>
              </a:spcAft>
              <a:defRPr sz="2000" b="1">
                <a:solidFill>
                  <a:srgbClr val="0F172A"/>
                </a:solidFill>
                <a:latin typeface="Segoe UI"/>
              </a:defRPr>
            </a:pPr>
            <a:r>
              <a:t>Weather Data Analysis</a:t>
            </a:r>
          </a:p>
          <a:p>
            <a:pPr>
              <a:defRPr sz="1100">
                <a:solidFill>
                  <a:srgbClr val="64748B"/>
                </a:solidFill>
                <a:latin typeface="Segoe UI"/>
              </a:defRPr>
            </a:pPr>
            <a:r>
              <a:t>365 daily observations (2023) from a single meteorological station analyzing temperature cycles and rainfall concentration</a:t>
            </a:r>
          </a:p>
        </p:txBody>
      </p:sp>
      <p:sp>
        <p:nvSpPr>
          <p:cNvPr id="3" name="Rounded Rectangle 2"/>
          <p:cNvSpPr/>
          <p:nvPr/>
        </p:nvSpPr>
        <p:spPr>
          <a:xfrm>
            <a:off x="731520"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25.03°C</a:t>
            </a:r>
          </a:p>
          <a:p>
            <a:pPr algn="ctr">
              <a:defRPr sz="800" b="1">
                <a:solidFill>
                  <a:srgbClr val="0F172A"/>
                </a:solidFill>
                <a:latin typeface="Segoe UI"/>
              </a:defRPr>
            </a:pPr>
            <a:r>
              <a:t>ANNUAL MEAN TEMP</a:t>
            </a:r>
          </a:p>
          <a:p>
            <a:pPr algn="ctr">
              <a:defRPr sz="750">
                <a:solidFill>
                  <a:srgbClr val="64748B"/>
                </a:solidFill>
                <a:latin typeface="Segoe UI"/>
              </a:defRPr>
            </a:pPr>
            <a:r>
              <a:t>Range: 0.6°C to 46.4°C</a:t>
            </a:r>
          </a:p>
        </p:txBody>
      </p:sp>
      <p:sp>
        <p:nvSpPr>
          <p:cNvPr id="5" name="Rounded Rectangle 4"/>
          <p:cNvSpPr/>
          <p:nvPr/>
        </p:nvSpPr>
        <p:spPr>
          <a:xfrm>
            <a:off x="2478024"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51176"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2,447.97 mm</a:t>
            </a:r>
          </a:p>
          <a:p>
            <a:pPr algn="ctr">
              <a:defRPr sz="800" b="1">
                <a:solidFill>
                  <a:srgbClr val="0F172A"/>
                </a:solidFill>
                <a:latin typeface="Segoe UI"/>
              </a:defRPr>
            </a:pPr>
            <a:r>
              <a:t>ANNUAL RAINFALL</a:t>
            </a:r>
          </a:p>
          <a:p>
            <a:pPr algn="ctr">
              <a:defRPr sz="750">
                <a:solidFill>
                  <a:srgbClr val="64748B"/>
                </a:solidFill>
                <a:latin typeface="Segoe UI"/>
              </a:defRPr>
            </a:pPr>
            <a:r>
              <a:t>Daily Avg: 6.71 mm</a:t>
            </a:r>
          </a:p>
        </p:txBody>
      </p:sp>
      <p:sp>
        <p:nvSpPr>
          <p:cNvPr id="7" name="Rounded Rectangle 6"/>
          <p:cNvSpPr/>
          <p:nvPr/>
        </p:nvSpPr>
        <p:spPr>
          <a:xfrm>
            <a:off x="4224528"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64.7%</a:t>
            </a:r>
          </a:p>
          <a:p>
            <a:pPr algn="ctr">
              <a:defRPr sz="800" b="1">
                <a:solidFill>
                  <a:srgbClr val="0F172A"/>
                </a:solidFill>
                <a:latin typeface="Segoe UI"/>
              </a:defRPr>
            </a:pPr>
            <a:r>
              <a:t>MONSOON PEAK SHARE</a:t>
            </a:r>
          </a:p>
          <a:p>
            <a:pPr algn="ctr">
              <a:defRPr sz="750">
                <a:solidFill>
                  <a:srgbClr val="64748B"/>
                </a:solidFill>
                <a:latin typeface="Segoe UI"/>
              </a:defRPr>
            </a:pPr>
            <a:r>
              <a:t>77 Heavy Days (&gt;10mm)</a:t>
            </a:r>
          </a:p>
        </p:txBody>
      </p:sp>
      <p:sp>
        <p:nvSpPr>
          <p:cNvPr id="9" name="Rounded Rectangle 8"/>
          <p:cNvSpPr/>
          <p:nvPr/>
        </p:nvSpPr>
        <p:spPr>
          <a:xfrm>
            <a:off x="731520" y="2304288"/>
            <a:ext cx="51206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414016"/>
            <a:ext cx="4791456" cy="2523744"/>
          </a:xfrm>
          <a:prstGeom prst="rect">
            <a:avLst/>
          </a:prstGeom>
          <a:noFill/>
        </p:spPr>
        <p:txBody>
          <a:bodyPr wrap="square" lIns="0" tIns="0" rIns="0" bIns="0">
            <a:spAutoFit/>
          </a:bodyPr>
          <a:lstStyle/>
          <a:p>
            <a:pPr>
              <a:spcAft>
                <a:spcPts val="400"/>
              </a:spcAft>
              <a:defRPr sz="1100" b="1">
                <a:solidFill>
                  <a:srgbClr val="0F172A"/>
                </a:solidFill>
                <a:latin typeface="Segoe UI"/>
              </a:defRPr>
            </a:pPr>
            <a:r>
              <a:t>Meteorological Patterns &amp; Seasonal Observations</a:t>
            </a:r>
          </a:p>
          <a:p>
            <a:pPr>
              <a:spcAft>
                <a:spcPts val="300"/>
              </a:spcAft>
            </a:pPr>
            <a:r>
              <a:rPr sz="900" b="1">
                <a:solidFill>
                  <a:srgbClr val="1E293B"/>
                </a:solidFill>
                <a:latin typeface="Segoe UI"/>
              </a:rPr>
              <a:t>• Seasonal Temperature Shifts: </a:t>
            </a:r>
            <a:r>
              <a:rPr sz="900">
                <a:solidFill>
                  <a:srgbClr val="334155"/>
                </a:solidFill>
                <a:latin typeface="Segoe UI"/>
              </a:rPr>
              <a:t>Defined seasons exhibit marked variation: Spring is warmest (avg 38.07°C, max 46.4°C), Summer is moderate (avg 22.15°C), Winter is cool (avg 27.72°C), and Autumn is coldest (avg 12.10°C, min 0.6°C). Peak-to-trough spread is ~26°C.</a:t>
            </a:r>
          </a:p>
          <a:p>
            <a:pPr>
              <a:spcAft>
                <a:spcPts val="300"/>
              </a:spcAft>
            </a:pPr>
            <a:r>
              <a:rPr sz="900" b="1">
                <a:solidFill>
                  <a:srgbClr val="1E293B"/>
                </a:solidFill>
                <a:latin typeface="Segoe UI"/>
              </a:rPr>
              <a:t>• Monsoon Rainfall Concentration: </a:t>
            </a:r>
            <a:r>
              <a:rPr sz="900">
                <a:solidFill>
                  <a:srgbClr val="334155"/>
                </a:solidFill>
                <a:latin typeface="Segoe UI"/>
              </a:rPr>
              <a:t>77 heavy-rain days (&gt;10 mm) account for 1,583.00 mm (~65% of total annual rain), concentrated in June–September (June: 406.8mm, July: 328.5mm, Aug: 408.6mm, Sept: 408.9mm).</a:t>
            </a:r>
          </a:p>
          <a:p>
            <a:pPr>
              <a:spcAft>
                <a:spcPts val="300"/>
              </a:spcAft>
            </a:pPr>
            <a:r>
              <a:rPr sz="900" b="1">
                <a:solidFill>
                  <a:srgbClr val="1E293B"/>
                </a:solidFill>
                <a:latin typeface="Segoe UI"/>
              </a:rPr>
              <a:t>• Rainfall Frequency vs Intensity: </a:t>
            </a:r>
            <a:r>
              <a:rPr sz="900">
                <a:solidFill>
                  <a:srgbClr val="334155"/>
                </a:solidFill>
                <a:latin typeface="Segoe UI"/>
              </a:rPr>
              <a:t>Rain was recorded on 284 days (77.8% of year), but precipitation was heavily skewed: light rain days predominate, while acute monsoon bursts carry the bulk volume.</a:t>
            </a:r>
          </a:p>
          <a:p>
            <a:pPr>
              <a:spcAft>
                <a:spcPts val="300"/>
              </a:spcAft>
            </a:pPr>
            <a:r>
              <a:rPr sz="900" b="1">
                <a:solidFill>
                  <a:srgbClr val="1E293B"/>
                </a:solidFill>
                <a:latin typeface="Segoe UI"/>
              </a:rPr>
              <a:t>• Condition Breakdown: </a:t>
            </a:r>
            <a:r>
              <a:rPr sz="900">
                <a:solidFill>
                  <a:srgbClr val="334155"/>
                </a:solidFill>
                <a:latin typeface="Segoe UI"/>
              </a:rPr>
              <a:t>Hot days: 119 (32.6%), Pleasant: 106 (29.0%), Rainy: 77 (21.1%), Cold: 63 (17.3%).</a:t>
            </a:r>
          </a:p>
          <a:p>
            <a:pPr>
              <a:spcAft>
                <a:spcPts val="300"/>
              </a:spcAft>
            </a:pPr>
            <a:r>
              <a:rPr sz="900" b="1">
                <a:solidFill>
                  <a:srgbClr val="1E293B"/>
                </a:solidFill>
                <a:latin typeface="Segoe UI"/>
              </a:rPr>
              <a:t>• Weak Cross-Variable Linear Correlation: </a:t>
            </a:r>
            <a:r>
              <a:rPr sz="900">
                <a:solidFill>
                  <a:srgbClr val="334155"/>
                </a:solidFill>
                <a:latin typeface="Segoe UI"/>
              </a:rPr>
              <a:t>Pairwise correlations between temperature, humidity, wind, and rainfall were weak (|r| &lt; 0.15), indicating non-linear atmospheric dynamics.</a:t>
            </a:r>
          </a:p>
        </p:txBody>
      </p:sp>
      <p:sp>
        <p:nvSpPr>
          <p:cNvPr id="11" name="Rounded Rectangle 10"/>
          <p:cNvSpPr/>
          <p:nvPr/>
        </p:nvSpPr>
        <p:spPr>
          <a:xfrm>
            <a:off x="731520" y="5138928"/>
            <a:ext cx="5120640" cy="1115568"/>
          </a:xfrm>
          <a:prstGeom prst="roundRect">
            <a:avLst/>
          </a:prstGeom>
          <a:solidFill>
            <a:srgbClr val="FEF3C7"/>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5212080"/>
            <a:ext cx="4901184" cy="668388"/>
          </a:xfrm>
          <a:prstGeom prst="rect">
            <a:avLst/>
          </a:prstGeom>
          <a:noFill/>
        </p:spPr>
        <p:txBody>
          <a:bodyPr wrap="square" lIns="0" tIns="0" rIns="0" bIns="0">
            <a:spAutoFit/>
          </a:bodyPr>
          <a:lstStyle/>
          <a:p>
            <a:pPr>
              <a:spcAft>
                <a:spcPts val="200"/>
              </a:spcAft>
              <a:defRPr sz="900" b="1">
                <a:solidFill>
                  <a:srgbClr val="B45309"/>
                </a:solidFill>
                <a:latin typeface="Segoe UI"/>
              </a:defRPr>
            </a:pPr>
            <a:r>
              <a:rPr dirty="0"/>
              <a:t>[SCIENTIFIC SCOPE LIMITATION]  Single-Station Observation vs Climate Classification</a:t>
            </a:r>
          </a:p>
          <a:p>
            <a:pPr>
              <a:defRPr sz="819">
                <a:solidFill>
                  <a:srgbClr val="1E293B"/>
                </a:solidFill>
                <a:latin typeface="Segoe UI"/>
              </a:defRPr>
            </a:pPr>
            <a:r>
              <a:rPr dirty="0"/>
              <a:t>This analysis strictly describes empirical observations from 365 days of 2023 data from a single station. A single year of data is insufficient to establish a formal long-term climate classification or multi-decadal trend under WMO standards. </a:t>
            </a:r>
            <a:r>
              <a:rPr lang="en-IN" sz="819" dirty="0">
                <a:solidFill>
                  <a:srgbClr val="1E293B"/>
                </a:solidFill>
                <a:latin typeface="Segoe UI"/>
              </a:rPr>
              <a:t>Practical applications can support municipal planning, drainage and rainwater-management considerations</a:t>
            </a:r>
            <a:endParaRPr dirty="0"/>
          </a:p>
        </p:txBody>
      </p:sp>
      <p:sp>
        <p:nvSpPr>
          <p:cNvPr id="13" name="Rounded Rectangle 12"/>
          <p:cNvSpPr/>
          <p:nvPr/>
        </p:nvSpPr>
        <p:spPr>
          <a:xfrm>
            <a:off x="6035040" y="141732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472184"/>
            <a:ext cx="5242255" cy="228600"/>
          </a:xfrm>
          <a:prstGeom prst="rect">
            <a:avLst/>
          </a:prstGeom>
          <a:noFill/>
        </p:spPr>
        <p:txBody>
          <a:bodyPr wrap="none" lIns="0" tIns="0" rIns="0" bIns="0">
            <a:spAutoFit/>
          </a:bodyPr>
          <a:lstStyle/>
          <a:p>
            <a:pPr>
              <a:defRPr sz="850" b="1">
                <a:solidFill>
                  <a:srgbClr val="1E293B"/>
                </a:solidFill>
                <a:latin typeface="Segoe UI"/>
              </a:defRPr>
            </a:pPr>
            <a:r>
              <a:t>Figure 3.1: Daily Temperature Trajectory and Extreme Bands Over 2023</a:t>
            </a:r>
          </a:p>
        </p:txBody>
      </p:sp>
      <p:pic>
        <p:nvPicPr>
          <p:cNvPr id="15" name="Picture 14" descr="11_temperature_trend.png"/>
          <p:cNvPicPr>
            <a:picLocks noChangeAspect="1"/>
          </p:cNvPicPr>
          <p:nvPr/>
        </p:nvPicPr>
        <p:blipFill>
          <a:blip r:embed="rId2"/>
          <a:stretch>
            <a:fillRect/>
          </a:stretch>
        </p:blipFill>
        <p:spPr>
          <a:xfrm>
            <a:off x="6126480" y="1709928"/>
            <a:ext cx="5242255" cy="2029968"/>
          </a:xfrm>
          <a:prstGeom prst="rect">
            <a:avLst/>
          </a:prstGeom>
        </p:spPr>
      </p:pic>
      <p:sp>
        <p:nvSpPr>
          <p:cNvPr id="16" name="Rounded Rectangle 15"/>
          <p:cNvSpPr/>
          <p:nvPr/>
        </p:nvSpPr>
        <p:spPr>
          <a:xfrm>
            <a:off x="6035040" y="388620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3941064"/>
            <a:ext cx="5242255" cy="228600"/>
          </a:xfrm>
          <a:prstGeom prst="rect">
            <a:avLst/>
          </a:prstGeom>
          <a:noFill/>
        </p:spPr>
        <p:txBody>
          <a:bodyPr wrap="none" lIns="0" tIns="0" rIns="0" bIns="0">
            <a:spAutoFit/>
          </a:bodyPr>
          <a:lstStyle/>
          <a:p>
            <a:pPr>
              <a:defRPr sz="850" b="1">
                <a:solidFill>
                  <a:srgbClr val="1E293B"/>
                </a:solidFill>
                <a:latin typeface="Segoe UI"/>
              </a:defRPr>
            </a:pPr>
            <a:r>
              <a:t>Figure 3.2: Monthly Precipitation Distribution Highlighting June–Sept Monsoon Peak</a:t>
            </a:r>
          </a:p>
        </p:txBody>
      </p:sp>
      <p:pic>
        <p:nvPicPr>
          <p:cNvPr id="18" name="Picture 17" descr="12_monthly_rainfall.png"/>
          <p:cNvPicPr>
            <a:picLocks noChangeAspect="1"/>
          </p:cNvPicPr>
          <p:nvPr/>
        </p:nvPicPr>
        <p:blipFill>
          <a:blip r:embed="rId3"/>
          <a:stretch>
            <a:fillRect/>
          </a:stretch>
        </p:blipFill>
        <p:spPr>
          <a:xfrm>
            <a:off x="6126480" y="4178808"/>
            <a:ext cx="5242255" cy="2029968"/>
          </a:xfrm>
          <a:prstGeom prst="rect">
            <a:avLst/>
          </a:prstGeom>
        </p:spPr>
      </p:pic>
      <p:sp>
        <p:nvSpPr>
          <p:cNvPr id="19" name="Rectangle 18"/>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21" name="TextBox 20"/>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05 of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PROJECT 04: PUBLIC HEALTH &amp; EPIDEMIOLOGY</a:t>
            </a:r>
          </a:p>
          <a:p>
            <a:pPr>
              <a:spcAft>
                <a:spcPts val="200"/>
              </a:spcAft>
              <a:defRPr sz="2000" b="1">
                <a:solidFill>
                  <a:srgbClr val="0F172A"/>
                </a:solidFill>
                <a:latin typeface="Segoe UI"/>
              </a:defRPr>
            </a:pPr>
            <a:r>
              <a:t>COVID Trends Analysis</a:t>
            </a:r>
          </a:p>
          <a:p>
            <a:pPr>
              <a:defRPr sz="1100">
                <a:solidFill>
                  <a:srgbClr val="64748B"/>
                </a:solidFill>
                <a:latin typeface="Segoe UI"/>
              </a:defRPr>
            </a:pPr>
            <a:r>
              <a:t>1,825 daily regional records across 5 geographic territories examining wave dynamics, mortality, and vaccination phases</a:t>
            </a:r>
          </a:p>
        </p:txBody>
      </p:sp>
      <p:sp>
        <p:nvSpPr>
          <p:cNvPr id="3" name="Rounded Rectangle 2"/>
          <p:cNvSpPr/>
          <p:nvPr/>
        </p:nvSpPr>
        <p:spPr>
          <a:xfrm>
            <a:off x="731520"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391,062</a:t>
            </a:r>
          </a:p>
          <a:p>
            <a:pPr algn="ctr">
              <a:defRPr sz="800" b="1">
                <a:solidFill>
                  <a:srgbClr val="0F172A"/>
                </a:solidFill>
                <a:latin typeface="Segoe UI"/>
              </a:defRPr>
            </a:pPr>
            <a:r>
              <a:t>TOTAL CASES</a:t>
            </a:r>
          </a:p>
          <a:p>
            <a:pPr algn="ctr">
              <a:defRPr sz="750">
                <a:solidFill>
                  <a:srgbClr val="64748B"/>
                </a:solidFill>
                <a:latin typeface="Segoe UI"/>
              </a:defRPr>
            </a:pPr>
            <a:r>
              <a:t>Deaths: 4,505 (CFR 1.15%)</a:t>
            </a:r>
          </a:p>
        </p:txBody>
      </p:sp>
      <p:sp>
        <p:nvSpPr>
          <p:cNvPr id="5" name="Rounded Rectangle 4"/>
          <p:cNvSpPr/>
          <p:nvPr/>
        </p:nvSpPr>
        <p:spPr>
          <a:xfrm>
            <a:off x="2478024"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51176"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86.23%</a:t>
            </a:r>
          </a:p>
          <a:p>
            <a:pPr algn="ctr">
              <a:defRPr sz="800" b="1">
                <a:solidFill>
                  <a:srgbClr val="0F172A"/>
                </a:solidFill>
                <a:latin typeface="Segoe UI"/>
              </a:defRPr>
            </a:pPr>
            <a:r>
              <a:t>RECOVERY RATE</a:t>
            </a:r>
          </a:p>
          <a:p>
            <a:pPr algn="ctr">
              <a:defRPr sz="750">
                <a:solidFill>
                  <a:srgbClr val="64748B"/>
                </a:solidFill>
                <a:latin typeface="Segoe UI"/>
              </a:defRPr>
            </a:pPr>
            <a:r>
              <a:t>337,199 Recoveries</a:t>
            </a:r>
          </a:p>
        </p:txBody>
      </p:sp>
      <p:sp>
        <p:nvSpPr>
          <p:cNvPr id="7" name="Rounded Rectangle 6"/>
          <p:cNvSpPr/>
          <p:nvPr/>
        </p:nvSpPr>
        <p:spPr>
          <a:xfrm>
            <a:off x="4224528"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-56.7%</a:t>
            </a:r>
          </a:p>
          <a:p>
            <a:pPr algn="ctr">
              <a:defRPr sz="800" b="1">
                <a:solidFill>
                  <a:srgbClr val="0F172A"/>
                </a:solidFill>
                <a:latin typeface="Segoe UI"/>
              </a:defRPr>
            </a:pPr>
            <a:r>
              <a:t>HIGH VAX PHASE ASSOC</a:t>
            </a:r>
          </a:p>
          <a:p>
            <a:pPr algn="ctr">
              <a:defRPr sz="750">
                <a:solidFill>
                  <a:srgbClr val="64748B"/>
                </a:solidFill>
                <a:latin typeface="Segoe UI"/>
              </a:defRPr>
            </a:pPr>
            <a:r>
              <a:t>101 vs 234 Daily Cases</a:t>
            </a:r>
          </a:p>
        </p:txBody>
      </p:sp>
      <p:sp>
        <p:nvSpPr>
          <p:cNvPr id="9" name="Rounded Rectangle 8"/>
          <p:cNvSpPr/>
          <p:nvPr/>
        </p:nvSpPr>
        <p:spPr>
          <a:xfrm>
            <a:off x="731520" y="2304288"/>
            <a:ext cx="51206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414016"/>
            <a:ext cx="4791456" cy="2336537"/>
          </a:xfrm>
          <a:prstGeom prst="rect">
            <a:avLst/>
          </a:prstGeom>
          <a:noFill/>
        </p:spPr>
        <p:txBody>
          <a:bodyPr wrap="square" lIns="0" tIns="0" rIns="0" bIns="0">
            <a:spAutoFit/>
          </a:bodyPr>
          <a:lstStyle/>
          <a:p>
            <a:pPr>
              <a:spcAft>
                <a:spcPts val="400"/>
              </a:spcAft>
              <a:defRPr sz="1100" b="1">
                <a:solidFill>
                  <a:srgbClr val="0F172A"/>
                </a:solidFill>
                <a:latin typeface="Segoe UI"/>
              </a:defRPr>
            </a:pPr>
            <a:r>
              <a:rPr dirty="0"/>
              <a:t>Epidemiological Patterns &amp; Regional Disparities</a:t>
            </a:r>
          </a:p>
          <a:p>
            <a:pPr>
              <a:spcAft>
                <a:spcPts val="300"/>
              </a:spcAft>
            </a:pPr>
            <a:r>
              <a:rPr sz="900" b="1" dirty="0">
                <a:solidFill>
                  <a:srgbClr val="1E293B"/>
                </a:solidFill>
                <a:latin typeface="Segoe UI"/>
              </a:rPr>
              <a:t>• </a:t>
            </a:r>
            <a:r>
              <a:rPr lang="en-IN" sz="1050" b="1" dirty="0"/>
              <a:t>Three Periods of Elevated Case Activity:</a:t>
            </a:r>
            <a:r>
              <a:rPr sz="1050" b="1" dirty="0">
                <a:solidFill>
                  <a:srgbClr val="1E293B"/>
                </a:solidFill>
                <a:latin typeface="Segoe UI"/>
              </a:rPr>
              <a:t> </a:t>
            </a:r>
            <a:r>
              <a:rPr sz="900" dirty="0">
                <a:solidFill>
                  <a:srgbClr val="334155"/>
                </a:solidFill>
                <a:latin typeface="Segoe UI"/>
              </a:rPr>
              <a:t>Period 1 (Feb–Mar): Peak 57,108 cases in Feb. Period 2 (May–Jun): Annual peak 87,244 cases in May. Period 3 (Sept–Oct): Muted peak 35,377 cases in Oct. December cases declined to annual low of 2,631.</a:t>
            </a:r>
          </a:p>
          <a:p>
            <a:pPr>
              <a:spcAft>
                <a:spcPts val="300"/>
              </a:spcAft>
            </a:pPr>
            <a:r>
              <a:rPr sz="900" b="1" dirty="0">
                <a:solidFill>
                  <a:srgbClr val="1E293B"/>
                </a:solidFill>
                <a:latin typeface="Segoe UI"/>
              </a:rPr>
              <a:t>• Vaccination Phase Association: </a:t>
            </a:r>
            <a:r>
              <a:rPr sz="900" dirty="0">
                <a:solidFill>
                  <a:srgbClr val="334155"/>
                </a:solidFill>
                <a:latin typeface="Segoe UI"/>
              </a:rPr>
              <a:t>High vaccination phases (60%+ coverage) averaged 101.28 daily cases vs 234.17 in low vaccination phases (0–30%), representing an observed 56.7% lower average daily case load.</a:t>
            </a:r>
          </a:p>
          <a:p>
            <a:pPr>
              <a:spcAft>
                <a:spcPts val="300"/>
              </a:spcAft>
            </a:pPr>
            <a:r>
              <a:rPr sz="900" b="1" dirty="0">
                <a:solidFill>
                  <a:srgbClr val="1E293B"/>
                </a:solidFill>
                <a:latin typeface="Segoe UI"/>
              </a:rPr>
              <a:t>• Regional Mortality Disparities: </a:t>
            </a:r>
            <a:r>
              <a:rPr sz="900" dirty="0">
                <a:solidFill>
                  <a:srgbClr val="334155"/>
                </a:solidFill>
                <a:latin typeface="Segoe UI"/>
              </a:rPr>
              <a:t>Central recorded 1,118 deaths (24.8% of total), whereas East recorded 787 deaths (17.5%). Central had 42.1% more deaths than East despite identical average vaccination rates (47.98%).</a:t>
            </a:r>
          </a:p>
          <a:p>
            <a:pPr>
              <a:spcAft>
                <a:spcPts val="300"/>
              </a:spcAft>
            </a:pPr>
            <a:r>
              <a:rPr sz="900" b="1" dirty="0">
                <a:solidFill>
                  <a:srgbClr val="1E293B"/>
                </a:solidFill>
                <a:latin typeface="Segoe UI"/>
              </a:rPr>
              <a:t>• Correlation Matrix Nuances: </a:t>
            </a:r>
            <a:r>
              <a:rPr sz="900" dirty="0">
                <a:solidFill>
                  <a:srgbClr val="334155"/>
                </a:solidFill>
                <a:latin typeface="Segoe UI"/>
              </a:rPr>
              <a:t>Vaccination rate vs Daily Cases showed moderate negative correlation (r = -0.3574); vaccination vs Daily Deaths was weak (r = -0.1604); Daily Cases vs Deaths was positive (r = +0.3433).</a:t>
            </a:r>
          </a:p>
          <a:p>
            <a:pPr>
              <a:spcAft>
                <a:spcPts val="300"/>
              </a:spcAft>
            </a:pPr>
            <a:r>
              <a:rPr sz="900" b="1" dirty="0">
                <a:solidFill>
                  <a:srgbClr val="1E293B"/>
                </a:solidFill>
                <a:latin typeface="Segoe UI"/>
              </a:rPr>
              <a:t>• Healthcare Capacity Implications: </a:t>
            </a:r>
            <a:r>
              <a:rPr lang="en-IN" sz="900" dirty="0"/>
              <a:t>Regional mortality differences warrant further investigation using demographic, healthcare-capacity, and other contextual data.</a:t>
            </a:r>
            <a:endParaRPr sz="900" dirty="0">
              <a:solidFill>
                <a:srgbClr val="334155"/>
              </a:solidFill>
              <a:latin typeface="Segoe UI"/>
            </a:endParaRPr>
          </a:p>
        </p:txBody>
      </p:sp>
      <p:sp>
        <p:nvSpPr>
          <p:cNvPr id="11" name="Rounded Rectangle 10"/>
          <p:cNvSpPr/>
          <p:nvPr/>
        </p:nvSpPr>
        <p:spPr>
          <a:xfrm>
            <a:off x="731520" y="5138928"/>
            <a:ext cx="5120640" cy="111556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5212080"/>
            <a:ext cx="4901184" cy="969264"/>
          </a:xfrm>
          <a:prstGeom prst="rect">
            <a:avLst/>
          </a:prstGeom>
          <a:noFill/>
        </p:spPr>
        <p:txBody>
          <a:bodyPr wrap="square" lIns="0" tIns="0" rIns="0" bIns="0">
            <a:spAutoFit/>
          </a:bodyPr>
          <a:lstStyle/>
          <a:p>
            <a:pPr>
              <a:spcAft>
                <a:spcPts val="200"/>
              </a:spcAft>
              <a:defRPr sz="900" b="1">
                <a:solidFill>
                  <a:srgbClr val="0284C7"/>
                </a:solidFill>
                <a:latin typeface="Segoe UI"/>
              </a:defRPr>
            </a:pPr>
            <a:r>
              <a:t>[METHODOLOGICAL NOTE]  Distinguishing Association from Causation</a:t>
            </a:r>
          </a:p>
          <a:p>
            <a:pPr>
              <a:defRPr sz="819">
                <a:solidFill>
                  <a:srgbClr val="1E293B"/>
                </a:solidFill>
                <a:latin typeface="Segoe UI"/>
              </a:defRPr>
            </a:pPr>
            <a:r>
              <a:t>The 56.7% case difference across vaccination phases is an observed statistical association. Observational aggregate data cannot establish singular clinical causation, as transmission was concurrently influenced by viral variants, public health mandates, testing rates, and population mobility.</a:t>
            </a:r>
          </a:p>
        </p:txBody>
      </p:sp>
      <p:sp>
        <p:nvSpPr>
          <p:cNvPr id="13" name="Rounded Rectangle 12"/>
          <p:cNvSpPr/>
          <p:nvPr/>
        </p:nvSpPr>
        <p:spPr>
          <a:xfrm>
            <a:off x="6035040" y="141732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472184"/>
            <a:ext cx="5242255" cy="228600"/>
          </a:xfrm>
          <a:prstGeom prst="rect">
            <a:avLst/>
          </a:prstGeom>
          <a:noFill/>
        </p:spPr>
        <p:txBody>
          <a:bodyPr wrap="none" lIns="0" tIns="0" rIns="0" bIns="0">
            <a:spAutoFit/>
          </a:bodyPr>
          <a:lstStyle/>
          <a:p>
            <a:pPr>
              <a:defRPr sz="850" b="1">
                <a:solidFill>
                  <a:srgbClr val="1E293B"/>
                </a:solidFill>
                <a:latin typeface="Segoe UI"/>
              </a:defRPr>
            </a:pPr>
            <a:r>
              <a:t>Figure 4.1: COVID-19 7-Day Moving Average Trajectory Across 5 Regions</a:t>
            </a:r>
          </a:p>
        </p:txBody>
      </p:sp>
      <p:pic>
        <p:nvPicPr>
          <p:cNvPr id="15" name="Picture 14" descr="15_covid_cases_by_region.png"/>
          <p:cNvPicPr>
            <a:picLocks noChangeAspect="1"/>
          </p:cNvPicPr>
          <p:nvPr/>
        </p:nvPicPr>
        <p:blipFill>
          <a:blip r:embed="rId2"/>
          <a:stretch>
            <a:fillRect/>
          </a:stretch>
        </p:blipFill>
        <p:spPr>
          <a:xfrm>
            <a:off x="6126480" y="1709928"/>
            <a:ext cx="5242255" cy="2029968"/>
          </a:xfrm>
          <a:prstGeom prst="rect">
            <a:avLst/>
          </a:prstGeom>
        </p:spPr>
      </p:pic>
      <p:sp>
        <p:nvSpPr>
          <p:cNvPr id="16" name="Rounded Rectangle 15"/>
          <p:cNvSpPr/>
          <p:nvPr/>
        </p:nvSpPr>
        <p:spPr>
          <a:xfrm>
            <a:off x="6035040" y="388620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3941064"/>
            <a:ext cx="5242255" cy="228600"/>
          </a:xfrm>
          <a:prstGeom prst="rect">
            <a:avLst/>
          </a:prstGeom>
          <a:noFill/>
        </p:spPr>
        <p:txBody>
          <a:bodyPr wrap="none" lIns="0" tIns="0" rIns="0" bIns="0">
            <a:spAutoFit/>
          </a:bodyPr>
          <a:lstStyle/>
          <a:p>
            <a:pPr>
              <a:defRPr sz="850" b="1">
                <a:solidFill>
                  <a:srgbClr val="1E293B"/>
                </a:solidFill>
                <a:latin typeface="Segoe UI"/>
              </a:defRPr>
            </a:pPr>
            <a:r>
              <a:t>Figure 4.2: Vaccination Rollout Progress vs Daily Case Counts Over Time</a:t>
            </a:r>
          </a:p>
        </p:txBody>
      </p:sp>
      <p:pic>
        <p:nvPicPr>
          <p:cNvPr id="18" name="Picture 17" descr="16_vaccination_vs_cases.png"/>
          <p:cNvPicPr>
            <a:picLocks noChangeAspect="1"/>
          </p:cNvPicPr>
          <p:nvPr/>
        </p:nvPicPr>
        <p:blipFill>
          <a:blip r:embed="rId3"/>
          <a:stretch>
            <a:fillRect/>
          </a:stretch>
        </p:blipFill>
        <p:spPr>
          <a:xfrm>
            <a:off x="6126480" y="4178808"/>
            <a:ext cx="5242255" cy="2029968"/>
          </a:xfrm>
          <a:prstGeom prst="rect">
            <a:avLst/>
          </a:prstGeom>
        </p:spPr>
      </p:pic>
      <p:sp>
        <p:nvSpPr>
          <p:cNvPr id="19" name="Rectangle 18"/>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21" name="TextBox 20"/>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06 of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PROJECT 05: FINANCE &amp; QUANTITATIVE EQUITY</a:t>
            </a:r>
          </a:p>
          <a:p>
            <a:pPr>
              <a:spcAft>
                <a:spcPts val="200"/>
              </a:spcAft>
              <a:defRPr sz="2000" b="1">
                <a:solidFill>
                  <a:srgbClr val="0F172A"/>
                </a:solidFill>
                <a:latin typeface="Segoe UI"/>
              </a:defRPr>
            </a:pPr>
            <a:r>
              <a:t>Stock Market Analysis</a:t>
            </a:r>
          </a:p>
          <a:p>
            <a:pPr>
              <a:defRPr sz="1100">
                <a:solidFill>
                  <a:srgbClr val="64748B"/>
                </a:solidFill>
                <a:latin typeface="Segoe UI"/>
              </a:defRPr>
            </a:pPr>
            <a:r>
              <a:t>252 trading days (Jan 2 to Dec 19, 2023) evaluating equity price trajectory, return volatility, and risk-adjusted metrics</a:t>
            </a:r>
          </a:p>
        </p:txBody>
      </p:sp>
      <p:sp>
        <p:nvSpPr>
          <p:cNvPr id="3" name="Rounded Rectangle 2"/>
          <p:cNvSpPr/>
          <p:nvPr/>
        </p:nvSpPr>
        <p:spPr>
          <a:xfrm>
            <a:off x="731520"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+10.14%</a:t>
            </a:r>
          </a:p>
          <a:p>
            <a:pPr algn="ctr">
              <a:defRPr sz="800" b="1">
                <a:solidFill>
                  <a:srgbClr val="0F172A"/>
                </a:solidFill>
                <a:latin typeface="Segoe UI"/>
              </a:defRPr>
            </a:pPr>
            <a:r>
              <a:t>PERIOD RETURN</a:t>
            </a:r>
          </a:p>
          <a:p>
            <a:pPr algn="ctr">
              <a:defRPr sz="750">
                <a:solidFill>
                  <a:srgbClr val="64748B"/>
                </a:solidFill>
                <a:latin typeface="Segoe UI"/>
              </a:defRPr>
            </a:pPr>
            <a:r>
              <a:t>Start $101.05 → End $111.30</a:t>
            </a:r>
          </a:p>
        </p:txBody>
      </p:sp>
      <p:sp>
        <p:nvSpPr>
          <p:cNvPr id="5" name="Rounded Rectangle 4"/>
          <p:cNvSpPr/>
          <p:nvPr/>
        </p:nvSpPr>
        <p:spPr>
          <a:xfrm>
            <a:off x="2478024"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51176"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30.87%</a:t>
            </a:r>
          </a:p>
          <a:p>
            <a:pPr algn="ctr">
              <a:defRPr sz="800" b="1">
                <a:solidFill>
                  <a:srgbClr val="0F172A"/>
                </a:solidFill>
                <a:latin typeface="Segoe UI"/>
              </a:defRPr>
            </a:pPr>
            <a:r>
              <a:t>ANNUALIZED VOL</a:t>
            </a:r>
          </a:p>
          <a:p>
            <a:pPr algn="ctr">
              <a:defRPr sz="750">
                <a:solidFill>
                  <a:srgbClr val="64748B"/>
                </a:solidFill>
                <a:latin typeface="Segoe UI"/>
              </a:defRPr>
            </a:pPr>
            <a:r>
              <a:t>Daily Volatility: 1.94%</a:t>
            </a:r>
          </a:p>
        </p:txBody>
      </p:sp>
      <p:sp>
        <p:nvSpPr>
          <p:cNvPr id="7" name="Rounded Rectangle 6"/>
          <p:cNvSpPr/>
          <p:nvPr/>
        </p:nvSpPr>
        <p:spPr>
          <a:xfrm>
            <a:off x="4224528" y="1417320"/>
            <a:ext cx="1627632"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490472"/>
            <a:ext cx="1481328" cy="630936"/>
          </a:xfrm>
          <a:prstGeom prst="rect">
            <a:avLst/>
          </a:prstGeom>
          <a:noFill/>
        </p:spPr>
        <p:txBody>
          <a:bodyPr wrap="square" lIns="0" tIns="0" rIns="0" bIns="0">
            <a:spAutoFit/>
          </a:bodyPr>
          <a:lstStyle/>
          <a:p>
            <a:pPr algn="ctr">
              <a:defRPr sz="1500" b="1">
                <a:solidFill>
                  <a:srgbClr val="0D9488"/>
                </a:solidFill>
                <a:latin typeface="Segoe UI"/>
              </a:defRPr>
            </a:pPr>
            <a:r>
              <a:t>-26.85%</a:t>
            </a:r>
          </a:p>
          <a:p>
            <a:pPr algn="ctr">
              <a:defRPr sz="800" b="1">
                <a:solidFill>
                  <a:srgbClr val="0F172A"/>
                </a:solidFill>
                <a:latin typeface="Segoe UI"/>
              </a:defRPr>
            </a:pPr>
            <a:r>
              <a:t>MAX DRAWDOWN</a:t>
            </a:r>
          </a:p>
          <a:p>
            <a:pPr algn="ctr">
              <a:defRPr sz="750">
                <a:solidFill>
                  <a:srgbClr val="64748B"/>
                </a:solidFill>
                <a:latin typeface="Segoe UI"/>
              </a:defRPr>
            </a:pPr>
            <a:r>
              <a:t>Trough on May 26 ($80.41)</a:t>
            </a:r>
          </a:p>
        </p:txBody>
      </p:sp>
      <p:sp>
        <p:nvSpPr>
          <p:cNvPr id="9" name="Rounded Rectangle 8"/>
          <p:cNvSpPr/>
          <p:nvPr/>
        </p:nvSpPr>
        <p:spPr>
          <a:xfrm>
            <a:off x="731520" y="2304288"/>
            <a:ext cx="51206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414016"/>
            <a:ext cx="4791456" cy="2174954"/>
          </a:xfrm>
          <a:prstGeom prst="rect">
            <a:avLst/>
          </a:prstGeom>
          <a:noFill/>
        </p:spPr>
        <p:txBody>
          <a:bodyPr wrap="square" lIns="0" tIns="0" rIns="0" bIns="0">
            <a:spAutoFit/>
          </a:bodyPr>
          <a:lstStyle/>
          <a:p>
            <a:pPr>
              <a:spcAft>
                <a:spcPts val="400"/>
              </a:spcAft>
              <a:defRPr sz="1100" b="1">
                <a:solidFill>
                  <a:srgbClr val="0F172A"/>
                </a:solidFill>
                <a:latin typeface="Segoe UI"/>
              </a:defRPr>
            </a:pPr>
            <a:r>
              <a:rPr dirty="0"/>
              <a:t>Price Action, Return Profiles &amp; Risk Metrics</a:t>
            </a:r>
          </a:p>
          <a:p>
            <a:pPr>
              <a:spcAft>
                <a:spcPts val="300"/>
              </a:spcAft>
            </a:pPr>
            <a:r>
              <a:rPr sz="900" b="1" dirty="0">
                <a:solidFill>
                  <a:srgbClr val="1E293B"/>
                </a:solidFill>
                <a:latin typeface="Segoe UI"/>
              </a:rPr>
              <a:t>• Price Range &amp; Rebound: </a:t>
            </a:r>
            <a:r>
              <a:rPr sz="900" dirty="0">
                <a:solidFill>
                  <a:srgbClr val="334155"/>
                </a:solidFill>
                <a:latin typeface="Segoe UI"/>
              </a:rPr>
              <a:t>Lowest close reached $80.41 on May 26; price subsequently rallied 46.4% to a peak close of $117.74 on Nov 6, closing the period at $111.30 (+10.14% return).</a:t>
            </a:r>
          </a:p>
          <a:p>
            <a:pPr>
              <a:spcAft>
                <a:spcPts val="300"/>
              </a:spcAft>
            </a:pPr>
            <a:r>
              <a:rPr sz="900" b="1" dirty="0">
                <a:solidFill>
                  <a:srgbClr val="1E293B"/>
                </a:solidFill>
                <a:latin typeface="Segoe UI"/>
              </a:rPr>
              <a:t>• Quarterly Trajectory: </a:t>
            </a:r>
            <a:r>
              <a:rPr sz="900" dirty="0">
                <a:solidFill>
                  <a:srgbClr val="334155"/>
                </a:solidFill>
                <a:latin typeface="Segoe UI"/>
              </a:rPr>
              <a:t>Severe early weakness in Q1 (-18.67% compounded, with Feb -9.79% worst month), followed by consistent rebound in Q2 (+8.89%), Q3 (+7.68%), and Q4 (+15.49%, led by Oct +17.91% best month).</a:t>
            </a:r>
          </a:p>
          <a:p>
            <a:pPr>
              <a:spcAft>
                <a:spcPts val="300"/>
              </a:spcAft>
            </a:pPr>
            <a:r>
              <a:rPr sz="900" b="1" dirty="0">
                <a:solidFill>
                  <a:srgbClr val="1E293B"/>
                </a:solidFill>
                <a:latin typeface="Segoe UI"/>
              </a:rPr>
              <a:t>• Daily Return Distribution: </a:t>
            </a:r>
            <a:r>
              <a:rPr lang="en-IN" sz="900" dirty="0"/>
              <a:t>130 positive days (51.6%) vs 121 negative days (48.0%), with 1 initial day having no calculated return. Daily returns ranged from −5.06% to +8.06%, with a median of +0.167% and mean of +0.057%.</a:t>
            </a:r>
            <a:endParaRPr sz="900" dirty="0">
              <a:solidFill>
                <a:srgbClr val="334155"/>
              </a:solidFill>
              <a:latin typeface="Segoe UI"/>
            </a:endParaRPr>
          </a:p>
          <a:p>
            <a:pPr>
              <a:spcAft>
                <a:spcPts val="300"/>
              </a:spcAft>
            </a:pPr>
            <a:r>
              <a:rPr sz="900" b="1" dirty="0">
                <a:solidFill>
                  <a:srgbClr val="1E293B"/>
                </a:solidFill>
                <a:latin typeface="Segoe UI"/>
              </a:rPr>
              <a:t>• Sharpe Ratio (0% Rf Assumption): </a:t>
            </a:r>
            <a:r>
              <a:rPr sz="900" dirty="0">
                <a:solidFill>
                  <a:srgbClr val="334155"/>
                </a:solidFill>
                <a:latin typeface="Segoe UI"/>
              </a:rPr>
              <a:t>Annualized Sharpe ratio was 0.47, calculated using an explicit 0% risk-free rate assumption, reflecting modest risk-adjusted compensation for high 30.87% volatility.</a:t>
            </a:r>
          </a:p>
          <a:p>
            <a:pPr>
              <a:spcAft>
                <a:spcPts val="300"/>
              </a:spcAft>
            </a:pPr>
            <a:r>
              <a:rPr sz="900" b="1" dirty="0">
                <a:solidFill>
                  <a:srgbClr val="1E293B"/>
                </a:solidFill>
                <a:latin typeface="Segoe UI"/>
              </a:rPr>
              <a:t>• Volume-Return Disconnect: </a:t>
            </a:r>
            <a:r>
              <a:rPr sz="900" dirty="0">
                <a:solidFill>
                  <a:srgbClr val="334155"/>
                </a:solidFill>
                <a:latin typeface="Segoe UI"/>
              </a:rPr>
              <a:t>Correlation between trading volume and daily returns was r = +0.017, indicating volume spikes had negligible linear association with price direction.</a:t>
            </a:r>
          </a:p>
        </p:txBody>
      </p:sp>
      <p:sp>
        <p:nvSpPr>
          <p:cNvPr id="11" name="Rounded Rectangle 10"/>
          <p:cNvSpPr/>
          <p:nvPr/>
        </p:nvSpPr>
        <p:spPr>
          <a:xfrm>
            <a:off x="731520" y="5138928"/>
            <a:ext cx="5120640" cy="1115568"/>
          </a:xfrm>
          <a:prstGeom prst="roundRect">
            <a:avLst/>
          </a:prstGeom>
          <a:solidFill>
            <a:srgbClr val="FEF3C7"/>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5212080"/>
            <a:ext cx="4901184" cy="969264"/>
          </a:xfrm>
          <a:prstGeom prst="rect">
            <a:avLst/>
          </a:prstGeom>
          <a:noFill/>
        </p:spPr>
        <p:txBody>
          <a:bodyPr wrap="square" lIns="0" tIns="0" rIns="0" bIns="0">
            <a:spAutoFit/>
          </a:bodyPr>
          <a:lstStyle/>
          <a:p>
            <a:pPr>
              <a:spcAft>
                <a:spcPts val="200"/>
              </a:spcAft>
              <a:defRPr sz="900" b="1">
                <a:solidFill>
                  <a:srgbClr val="B45309"/>
                </a:solidFill>
                <a:latin typeface="Segoe UI"/>
              </a:defRPr>
            </a:pPr>
            <a:r>
              <a:t>[DATA QUALITY LIMITATION]  OHLC Data Consistency Anomalies</a:t>
            </a:r>
          </a:p>
          <a:p>
            <a:pPr>
              <a:defRPr sz="819">
                <a:solidFill>
                  <a:srgbClr val="1E293B"/>
                </a:solidFill>
                <a:latin typeface="Segoe UI"/>
              </a:defRPr>
            </a:pPr>
            <a:r>
              <a:t>The supplied dataset contains 78 rows with OHLC consistency issues: 40 rows where Open &gt; High, and 38 rows where Open &lt; Low. High–Low and Close relationships had 0 violations. Return formulas were mathematically validated (&lt;1e-13% diff). Original data was retained without alteration to preserve source integrity.</a:t>
            </a:r>
          </a:p>
        </p:txBody>
      </p:sp>
      <p:sp>
        <p:nvSpPr>
          <p:cNvPr id="13" name="Rounded Rectangle 12"/>
          <p:cNvSpPr/>
          <p:nvPr/>
        </p:nvSpPr>
        <p:spPr>
          <a:xfrm>
            <a:off x="6035040" y="141732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472184"/>
            <a:ext cx="5242255" cy="228600"/>
          </a:xfrm>
          <a:prstGeom prst="rect">
            <a:avLst/>
          </a:prstGeom>
          <a:noFill/>
        </p:spPr>
        <p:txBody>
          <a:bodyPr wrap="none" lIns="0" tIns="0" rIns="0" bIns="0">
            <a:spAutoFit/>
          </a:bodyPr>
          <a:lstStyle/>
          <a:p>
            <a:pPr>
              <a:defRPr sz="850" b="1">
                <a:solidFill>
                  <a:srgbClr val="1E293B"/>
                </a:solidFill>
                <a:latin typeface="Segoe UI"/>
              </a:defRPr>
            </a:pPr>
            <a:r>
              <a:t>Figure 5.1: Daily Close Price Trajectory with 50-Day Moving Average &amp; Range</a:t>
            </a:r>
          </a:p>
        </p:txBody>
      </p:sp>
      <p:pic>
        <p:nvPicPr>
          <p:cNvPr id="15" name="Picture 14" descr="19_stock_price_trend.png"/>
          <p:cNvPicPr>
            <a:picLocks noChangeAspect="1"/>
          </p:cNvPicPr>
          <p:nvPr/>
        </p:nvPicPr>
        <p:blipFill>
          <a:blip r:embed="rId2"/>
          <a:stretch>
            <a:fillRect/>
          </a:stretch>
        </p:blipFill>
        <p:spPr>
          <a:xfrm>
            <a:off x="6126480" y="1709928"/>
            <a:ext cx="5242255" cy="2029968"/>
          </a:xfrm>
          <a:prstGeom prst="rect">
            <a:avLst/>
          </a:prstGeom>
        </p:spPr>
      </p:pic>
      <p:sp>
        <p:nvSpPr>
          <p:cNvPr id="16" name="Rounded Rectangle 15"/>
          <p:cNvSpPr/>
          <p:nvPr/>
        </p:nvSpPr>
        <p:spPr>
          <a:xfrm>
            <a:off x="6035040" y="3886200"/>
            <a:ext cx="542513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0" y="3941064"/>
            <a:ext cx="5242255" cy="228600"/>
          </a:xfrm>
          <a:prstGeom prst="rect">
            <a:avLst/>
          </a:prstGeom>
          <a:noFill/>
        </p:spPr>
        <p:txBody>
          <a:bodyPr wrap="none" lIns="0" tIns="0" rIns="0" bIns="0">
            <a:spAutoFit/>
          </a:bodyPr>
          <a:lstStyle/>
          <a:p>
            <a:pPr>
              <a:defRPr sz="850" b="1">
                <a:solidFill>
                  <a:srgbClr val="1E293B"/>
                </a:solidFill>
                <a:latin typeface="Segoe UI"/>
              </a:defRPr>
            </a:pPr>
            <a:r>
              <a:t>Figure 5.2: Cumulative Return Profile Showing May Drawdown and Year-End Recovery</a:t>
            </a:r>
          </a:p>
        </p:txBody>
      </p:sp>
      <p:pic>
        <p:nvPicPr>
          <p:cNvPr id="18" name="Picture 17" descr="21_cumulative_returns.png"/>
          <p:cNvPicPr>
            <a:picLocks noChangeAspect="1"/>
          </p:cNvPicPr>
          <p:nvPr/>
        </p:nvPicPr>
        <p:blipFill>
          <a:blip r:embed="rId3"/>
          <a:stretch>
            <a:fillRect/>
          </a:stretch>
        </p:blipFill>
        <p:spPr>
          <a:xfrm>
            <a:off x="6126480" y="4178808"/>
            <a:ext cx="5242255" cy="2029968"/>
          </a:xfrm>
          <a:prstGeom prst="rect">
            <a:avLst/>
          </a:prstGeom>
        </p:spPr>
      </p:pic>
      <p:sp>
        <p:nvSpPr>
          <p:cNvPr id="19" name="Rectangle 18"/>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21" name="TextBox 20"/>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07 of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PORTFOLIO SYNTHESIS</a:t>
            </a:r>
          </a:p>
          <a:p>
            <a:pPr>
              <a:spcAft>
                <a:spcPts val="200"/>
              </a:spcAft>
              <a:defRPr sz="2000" b="1">
                <a:solidFill>
                  <a:srgbClr val="0F172A"/>
                </a:solidFill>
                <a:latin typeface="Segoe UI"/>
              </a:defRPr>
            </a:pPr>
            <a:r>
              <a:t>Cross-Domain Insights &amp; Analytical Comparison</a:t>
            </a:r>
          </a:p>
          <a:p>
            <a:pPr>
              <a:defRPr sz="1100">
                <a:solidFill>
                  <a:srgbClr val="64748B"/>
                </a:solidFill>
                <a:latin typeface="Segoe UI"/>
              </a:defRPr>
            </a:pPr>
            <a:r>
              <a:t>Demonstrating methodological adaptability and statistical rigor across disparate business and scientific domains</a:t>
            </a:r>
          </a:p>
        </p:txBody>
      </p:sp>
      <p:sp>
        <p:nvSpPr>
          <p:cNvPr id="3" name="Rounded Rectangle 2"/>
          <p:cNvSpPr/>
          <p:nvPr/>
        </p:nvSpPr>
        <p:spPr>
          <a:xfrm>
            <a:off x="731520" y="1417320"/>
            <a:ext cx="10728655"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2231304024"/>
              </p:ext>
            </p:extLst>
          </p:nvPr>
        </p:nvGraphicFramePr>
        <p:xfrm>
          <a:off x="868680" y="1508760"/>
          <a:ext cx="10454335" cy="306324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33295">
                  <a:extLst>
                    <a:ext uri="{9D8B030D-6E8A-4147-A177-3AD203B41FA5}">
                      <a16:colId xmlns:a16="http://schemas.microsoft.com/office/drawing/2014/main" val="20004"/>
                    </a:ext>
                  </a:extLst>
                </a:gridCol>
              </a:tblGrid>
              <a:tr h="510540">
                <a:tc>
                  <a:txBody>
                    <a:bodyPr/>
                    <a:lstStyle/>
                    <a:p>
                      <a:pPr>
                        <a:defRPr sz="950" b="1">
                          <a:solidFill>
                            <a:srgbClr val="FFFFFF"/>
                          </a:solidFill>
                          <a:latin typeface="Segoe UI"/>
                        </a:defRPr>
                      </a:pPr>
                      <a:r>
                        <a:t>Domain &amp; Dataset</a:t>
                      </a:r>
                    </a:p>
                  </a:txBody>
                  <a:tcPr>
                    <a:solidFill>
                      <a:srgbClr val="0F172A"/>
                    </a:solidFill>
                  </a:tcPr>
                </a:tc>
                <a:tc>
                  <a:txBody>
                    <a:bodyPr/>
                    <a:lstStyle/>
                    <a:p>
                      <a:pPr>
                        <a:defRPr sz="950" b="1">
                          <a:solidFill>
                            <a:srgbClr val="FFFFFF"/>
                          </a:solidFill>
                          <a:latin typeface="Segoe UI"/>
                        </a:defRPr>
                      </a:pPr>
                      <a:r>
                        <a:t>Core Analytical Question</a:t>
                      </a:r>
                    </a:p>
                  </a:txBody>
                  <a:tcPr>
                    <a:solidFill>
                      <a:srgbClr val="0F172A"/>
                    </a:solidFill>
                  </a:tcPr>
                </a:tc>
                <a:tc>
                  <a:txBody>
                    <a:bodyPr/>
                    <a:lstStyle/>
                    <a:p>
                      <a:pPr>
                        <a:defRPr sz="950" b="1">
                          <a:solidFill>
                            <a:srgbClr val="FFFFFF"/>
                          </a:solidFill>
                          <a:latin typeface="Segoe UI"/>
                        </a:defRPr>
                      </a:pPr>
                      <a:r>
                        <a:t>Key Statistical Measures</a:t>
                      </a:r>
                    </a:p>
                  </a:txBody>
                  <a:tcPr>
                    <a:solidFill>
                      <a:srgbClr val="0F172A"/>
                    </a:solidFill>
                  </a:tcPr>
                </a:tc>
                <a:tc>
                  <a:txBody>
                    <a:bodyPr/>
                    <a:lstStyle/>
                    <a:p>
                      <a:pPr>
                        <a:defRPr sz="950" b="1">
                          <a:solidFill>
                            <a:srgbClr val="FFFFFF"/>
                          </a:solidFill>
                          <a:latin typeface="Segoe UI"/>
                        </a:defRPr>
                      </a:pPr>
                      <a:r>
                        <a:t>Primary Visualizations</a:t>
                      </a:r>
                    </a:p>
                  </a:txBody>
                  <a:tcPr>
                    <a:solidFill>
                      <a:srgbClr val="0F172A"/>
                    </a:solidFill>
                  </a:tcPr>
                </a:tc>
                <a:tc>
                  <a:txBody>
                    <a:bodyPr/>
                    <a:lstStyle/>
                    <a:p>
                      <a:pPr>
                        <a:defRPr sz="950" b="1">
                          <a:solidFill>
                            <a:srgbClr val="FFFFFF"/>
                          </a:solidFill>
                          <a:latin typeface="Segoe UI"/>
                        </a:defRPr>
                      </a:pPr>
                      <a:r>
                        <a:t>Decision Impact</a:t>
                      </a:r>
                    </a:p>
                  </a:txBody>
                  <a:tcPr>
                    <a:solidFill>
                      <a:srgbClr val="0F172A"/>
                    </a:solidFill>
                  </a:tcPr>
                </a:tc>
                <a:extLst>
                  <a:ext uri="{0D108BD9-81ED-4DB2-BD59-A6C34878D82A}">
                    <a16:rowId xmlns:a16="http://schemas.microsoft.com/office/drawing/2014/main" val="10000"/>
                  </a:ext>
                </a:extLst>
              </a:tr>
              <a:tr h="510540">
                <a:tc>
                  <a:txBody>
                    <a:bodyPr/>
                    <a:lstStyle/>
                    <a:p>
                      <a:pPr>
                        <a:defRPr sz="819">
                          <a:solidFill>
                            <a:srgbClr val="1E293B"/>
                          </a:solidFill>
                          <a:latin typeface="Segoe UI"/>
                        </a:defRPr>
                      </a:pPr>
                      <a:r>
                        <a:t>01 Supermarket</a:t>
                      </a:r>
                      <a:br/>
                      <a:r>
                        <a:t>(2,000 txns, 14 cols)</a:t>
                      </a:r>
                    </a:p>
                  </a:txBody>
                  <a:tcPr>
                    <a:solidFill>
                      <a:srgbClr val="F8FAFC"/>
                    </a:solidFill>
                  </a:tcPr>
                </a:tc>
                <a:tc>
                  <a:txBody>
                    <a:bodyPr/>
                    <a:lstStyle/>
                    <a:p>
                      <a:pPr>
                        <a:defRPr sz="819">
                          <a:solidFill>
                            <a:srgbClr val="1E293B"/>
                          </a:solidFill>
                          <a:latin typeface="Segoe UI"/>
                        </a:defRPr>
                      </a:pPr>
                      <a:r>
                        <a:t>What drives sales across branches, time periods, &amp; customer segments?</a:t>
                      </a:r>
                    </a:p>
                  </a:txBody>
                  <a:tcPr>
                    <a:solidFill>
                      <a:srgbClr val="F8FAFC"/>
                    </a:solidFill>
                  </a:tcPr>
                </a:tc>
                <a:tc>
                  <a:txBody>
                    <a:bodyPr/>
                    <a:lstStyle/>
                    <a:p>
                      <a:pPr>
                        <a:defRPr sz="819">
                          <a:solidFill>
                            <a:srgbClr val="1E293B"/>
                          </a:solidFill>
                          <a:latin typeface="Segoe UI"/>
                        </a:defRPr>
                      </a:pPr>
                      <a:r>
                        <a:t>Totals, branch shares, hourly volumes, mean/median ratings, spend parity</a:t>
                      </a:r>
                    </a:p>
                  </a:txBody>
                  <a:tcPr>
                    <a:solidFill>
                      <a:srgbClr val="F8FAFC"/>
                    </a:solidFill>
                  </a:tcPr>
                </a:tc>
                <a:tc>
                  <a:txBody>
                    <a:bodyPr/>
                    <a:lstStyle/>
                    <a:p>
                      <a:pPr>
                        <a:defRPr sz="819">
                          <a:solidFill>
                            <a:srgbClr val="1E293B"/>
                          </a:solidFill>
                          <a:latin typeface="Segoe UI"/>
                        </a:defRPr>
                      </a:pPr>
                      <a:r>
                        <a:t>Grouped bars, distribution histograms, trend lines</a:t>
                      </a:r>
                    </a:p>
                  </a:txBody>
                  <a:tcPr>
                    <a:solidFill>
                      <a:srgbClr val="F8FAFC"/>
                    </a:solidFill>
                  </a:tcPr>
                </a:tc>
                <a:tc>
                  <a:txBody>
                    <a:bodyPr/>
                    <a:lstStyle/>
                    <a:p>
                      <a:pPr>
                        <a:defRPr sz="819">
                          <a:solidFill>
                            <a:srgbClr val="1E293B"/>
                          </a:solidFill>
                          <a:latin typeface="Segoe UI"/>
                        </a:defRPr>
                      </a:pPr>
                      <a:r>
                        <a:t>Staffing shift to 12-5 PM peak; Branch C traffic investigation</a:t>
                      </a:r>
                    </a:p>
                  </a:txBody>
                  <a:tcPr>
                    <a:solidFill>
                      <a:srgbClr val="F8FAFC"/>
                    </a:solidFill>
                  </a:tcPr>
                </a:tc>
                <a:extLst>
                  <a:ext uri="{0D108BD9-81ED-4DB2-BD59-A6C34878D82A}">
                    <a16:rowId xmlns:a16="http://schemas.microsoft.com/office/drawing/2014/main" val="10001"/>
                  </a:ext>
                </a:extLst>
              </a:tr>
              <a:tr h="510540">
                <a:tc>
                  <a:txBody>
                    <a:bodyPr/>
                    <a:lstStyle/>
                    <a:p>
                      <a:pPr>
                        <a:defRPr sz="819">
                          <a:solidFill>
                            <a:srgbClr val="1E293B"/>
                          </a:solidFill>
                          <a:latin typeface="Segoe UI"/>
                        </a:defRPr>
                      </a:pPr>
                      <a:r>
                        <a:t>02 Student Scores</a:t>
                      </a:r>
                      <a:br/>
                      <a:r>
                        <a:t>(500 students, 10 cols)</a:t>
                      </a:r>
                    </a:p>
                  </a:txBody>
                  <a:tcPr>
                    <a:solidFill>
                      <a:srgbClr val="FFFFFF"/>
                    </a:solidFill>
                  </a:tcPr>
                </a:tc>
                <a:tc>
                  <a:txBody>
                    <a:bodyPr/>
                    <a:lstStyle/>
                    <a:p>
                      <a:pPr>
                        <a:defRPr sz="819">
                          <a:solidFill>
                            <a:srgbClr val="1E293B"/>
                          </a:solidFill>
                          <a:latin typeface="Segoe UI"/>
                        </a:defRPr>
                      </a:pPr>
                      <a:r>
                        <a:t>How do study time and attendance relate to grades and performance tiers?</a:t>
                      </a:r>
                    </a:p>
                  </a:txBody>
                  <a:tcPr>
                    <a:solidFill>
                      <a:srgbClr val="FFFFFF"/>
                    </a:solidFill>
                  </a:tcPr>
                </a:tc>
                <a:tc>
                  <a:txBody>
                    <a:bodyPr/>
                    <a:lstStyle/>
                    <a:p>
                      <a:pPr>
                        <a:defRPr sz="819">
                          <a:solidFill>
                            <a:srgbClr val="1E293B"/>
                          </a:solidFill>
                          <a:latin typeface="Segoe UI"/>
                        </a:defRPr>
                      </a:pPr>
                      <a:r>
                        <a:t>Pearson r, tier averages, inter-subject correlation matrix, percentiles</a:t>
                      </a:r>
                    </a:p>
                  </a:txBody>
                  <a:tcPr>
                    <a:solidFill>
                      <a:srgbClr val="FFFFFF"/>
                    </a:solidFill>
                  </a:tcPr>
                </a:tc>
                <a:tc>
                  <a:txBody>
                    <a:bodyPr/>
                    <a:lstStyle/>
                    <a:p>
                      <a:pPr>
                        <a:defRPr sz="819">
                          <a:solidFill>
                            <a:srgbClr val="1E293B"/>
                          </a:solidFill>
                          <a:latin typeface="Segoe UI"/>
                        </a:defRPr>
                      </a:pPr>
                      <a:r>
                        <a:t>Grade bar charts, subject heatmaps, effort grouped bars</a:t>
                      </a:r>
                    </a:p>
                  </a:txBody>
                  <a:tcPr>
                    <a:solidFill>
                      <a:srgbClr val="FFFFFF"/>
                    </a:solidFill>
                  </a:tcPr>
                </a:tc>
                <a:tc>
                  <a:txBody>
                    <a:bodyPr/>
                    <a:lstStyle/>
                    <a:p>
                      <a:pPr>
                        <a:defRPr sz="819">
                          <a:solidFill>
                            <a:srgbClr val="1E293B"/>
                          </a:solidFill>
                          <a:latin typeface="Segoe UI"/>
                        </a:defRPr>
                      </a:pPr>
                      <a:r>
                        <a:t>Shift from counting study hours to assessing learning strategies</a:t>
                      </a:r>
                    </a:p>
                  </a:txBody>
                  <a:tcPr>
                    <a:solidFill>
                      <a:srgbClr val="FFFFFF"/>
                    </a:solidFill>
                  </a:tcPr>
                </a:tc>
                <a:extLst>
                  <a:ext uri="{0D108BD9-81ED-4DB2-BD59-A6C34878D82A}">
                    <a16:rowId xmlns:a16="http://schemas.microsoft.com/office/drawing/2014/main" val="10002"/>
                  </a:ext>
                </a:extLst>
              </a:tr>
              <a:tr h="510540">
                <a:tc>
                  <a:txBody>
                    <a:bodyPr/>
                    <a:lstStyle/>
                    <a:p>
                      <a:pPr>
                        <a:defRPr sz="819">
                          <a:solidFill>
                            <a:srgbClr val="1E293B"/>
                          </a:solidFill>
                          <a:latin typeface="Segoe UI"/>
                        </a:defRPr>
                      </a:pPr>
                      <a:r>
                        <a:t>03 Weather Data</a:t>
                      </a:r>
                      <a:br/>
                      <a:r>
                        <a:t>(365 days, 12 cols)</a:t>
                      </a:r>
                    </a:p>
                  </a:txBody>
                  <a:tcPr>
                    <a:solidFill>
                      <a:srgbClr val="F8FAFC"/>
                    </a:solidFill>
                  </a:tcPr>
                </a:tc>
                <a:tc>
                  <a:txBody>
                    <a:bodyPr/>
                    <a:lstStyle/>
                    <a:p>
                      <a:pPr>
                        <a:defRPr sz="819">
                          <a:solidFill>
                            <a:srgbClr val="1E293B"/>
                          </a:solidFill>
                          <a:latin typeface="Segoe UI"/>
                        </a:defRPr>
                      </a:pPr>
                      <a:r>
                        <a:t>What are the seasonal cycles, rainfall concentration, &amp; extreme events?</a:t>
                      </a:r>
                    </a:p>
                  </a:txBody>
                  <a:tcPr>
                    <a:solidFill>
                      <a:srgbClr val="F8FAFC"/>
                    </a:solidFill>
                  </a:tcPr>
                </a:tc>
                <a:tc>
                  <a:txBody>
                    <a:bodyPr/>
                    <a:lstStyle/>
                    <a:p>
                      <a:pPr>
                        <a:defRPr sz="819">
                          <a:solidFill>
                            <a:srgbClr val="1E293B"/>
                          </a:solidFill>
                          <a:latin typeface="Segoe UI"/>
                        </a:defRPr>
                      </a:pPr>
                      <a:r>
                        <a:t>Percentiles (10th/90th), annual precipitation, seasonal means &amp; IQR</a:t>
                      </a:r>
                    </a:p>
                  </a:txBody>
                  <a:tcPr>
                    <a:solidFill>
                      <a:srgbClr val="F8FAFC"/>
                    </a:solidFill>
                  </a:tcPr>
                </a:tc>
                <a:tc>
                  <a:txBody>
                    <a:bodyPr/>
                    <a:lstStyle/>
                    <a:p>
                      <a:pPr>
                        <a:defRPr sz="819">
                          <a:solidFill>
                            <a:srgbClr val="1E293B"/>
                          </a:solidFill>
                          <a:latin typeface="Segoe UI"/>
                        </a:defRPr>
                      </a:pPr>
                      <a:r>
                        <a:t>Time-series bands, monthly rainfall bars, seasonal boxplots</a:t>
                      </a:r>
                    </a:p>
                  </a:txBody>
                  <a:tcPr>
                    <a:solidFill>
                      <a:srgbClr val="F8FAFC"/>
                    </a:solidFill>
                  </a:tcPr>
                </a:tc>
                <a:tc>
                  <a:txBody>
                    <a:bodyPr/>
                    <a:lstStyle/>
                    <a:p>
                      <a:pPr>
                        <a:defRPr sz="819">
                          <a:solidFill>
                            <a:srgbClr val="1E293B"/>
                          </a:solidFill>
                          <a:latin typeface="Segoe UI"/>
                        </a:defRPr>
                      </a:pPr>
                      <a:r>
                        <a:rPr lang="en-IN" sz="819" kern="1200" dirty="0">
                          <a:solidFill>
                            <a:srgbClr val="1E293B"/>
                          </a:solidFill>
                          <a:latin typeface="Segoe UI"/>
                          <a:ea typeface="+mn-ea"/>
                          <a:cs typeface="+mn-cs"/>
                        </a:rPr>
                        <a:t>Rainwater-management planning using observed monsoon concentration and peak rainfall.</a:t>
                      </a:r>
                      <a:endParaRPr dirty="0"/>
                    </a:p>
                  </a:txBody>
                  <a:tcPr>
                    <a:solidFill>
                      <a:srgbClr val="F8FAFC"/>
                    </a:solidFill>
                  </a:tcPr>
                </a:tc>
                <a:extLst>
                  <a:ext uri="{0D108BD9-81ED-4DB2-BD59-A6C34878D82A}">
                    <a16:rowId xmlns:a16="http://schemas.microsoft.com/office/drawing/2014/main" val="10003"/>
                  </a:ext>
                </a:extLst>
              </a:tr>
              <a:tr h="510540">
                <a:tc>
                  <a:txBody>
                    <a:bodyPr/>
                    <a:lstStyle/>
                    <a:p>
                      <a:pPr>
                        <a:defRPr sz="819">
                          <a:solidFill>
                            <a:srgbClr val="1E293B"/>
                          </a:solidFill>
                          <a:latin typeface="Segoe UI"/>
                        </a:defRPr>
                      </a:pPr>
                      <a:r>
                        <a:t>04 COVID Healthcare</a:t>
                      </a:r>
                      <a:br/>
                      <a:r>
                        <a:t>(1,825 rows, 10 cols)</a:t>
                      </a:r>
                    </a:p>
                  </a:txBody>
                  <a:tcPr>
                    <a:solidFill>
                      <a:srgbClr val="FFFFFF"/>
                    </a:solidFill>
                  </a:tcPr>
                </a:tc>
                <a:tc>
                  <a:txBody>
                    <a:bodyPr/>
                    <a:lstStyle/>
                    <a:p>
                      <a:pPr>
                        <a:defRPr sz="819">
                          <a:solidFill>
                            <a:srgbClr val="1E293B"/>
                          </a:solidFill>
                          <a:latin typeface="Segoe UI"/>
                        </a:defRPr>
                      </a:pPr>
                      <a:r>
                        <a:rPr lang="en-IN" sz="819" kern="1200" dirty="0">
                          <a:solidFill>
                            <a:srgbClr val="1E293B"/>
                          </a:solidFill>
                          <a:latin typeface="Segoe UI"/>
                          <a:ea typeface="+mn-ea"/>
                          <a:cs typeface="+mn-cs"/>
                        </a:rPr>
                        <a:t>What are periods of elevated case activity, regional disparities, &amp; vaccination-phase trends?</a:t>
                      </a:r>
                      <a:endParaRPr dirty="0"/>
                    </a:p>
                  </a:txBody>
                  <a:tcPr>
                    <a:solidFill>
                      <a:srgbClr val="FFFFFF"/>
                    </a:solidFill>
                  </a:tcPr>
                </a:tc>
                <a:tc>
                  <a:txBody>
                    <a:bodyPr/>
                    <a:lstStyle/>
                    <a:p>
                      <a:pPr>
                        <a:defRPr sz="819">
                          <a:solidFill>
                            <a:srgbClr val="1E293B"/>
                          </a:solidFill>
                          <a:latin typeface="Segoe UI"/>
                        </a:defRPr>
                      </a:pPr>
                      <a:r>
                        <a:t>7-day moving averages, CFR (1.15%), recovery rate (86.23%), phase means</a:t>
                      </a:r>
                    </a:p>
                  </a:txBody>
                  <a:tcPr>
                    <a:solidFill>
                      <a:srgbClr val="FFFFFF"/>
                    </a:solidFill>
                  </a:tcPr>
                </a:tc>
                <a:tc>
                  <a:txBody>
                    <a:bodyPr/>
                    <a:lstStyle/>
                    <a:p>
                      <a:pPr>
                        <a:defRPr sz="819">
                          <a:solidFill>
                            <a:srgbClr val="1E293B"/>
                          </a:solidFill>
                          <a:latin typeface="Segoe UI"/>
                        </a:defRPr>
                      </a:pPr>
                      <a:r>
                        <a:t>Regional time series, dual-axis tracking, phase comparisons</a:t>
                      </a:r>
                    </a:p>
                  </a:txBody>
                  <a:tcPr>
                    <a:solidFill>
                      <a:srgbClr val="FFFFFF"/>
                    </a:solidFill>
                  </a:tcPr>
                </a:tc>
                <a:tc>
                  <a:txBody>
                    <a:bodyPr/>
                    <a:lstStyle/>
                    <a:p>
                      <a:pPr>
                        <a:defRPr sz="819">
                          <a:solidFill>
                            <a:srgbClr val="1E293B"/>
                          </a:solidFill>
                          <a:latin typeface="Segoe UI"/>
                        </a:defRPr>
                      </a:pPr>
                      <a:r>
                        <a:rPr lang="en-IN" sz="819" kern="1200" dirty="0">
                          <a:solidFill>
                            <a:srgbClr val="1E293B"/>
                          </a:solidFill>
                          <a:latin typeface="Segoe UI"/>
                          <a:ea typeface="+mn-ea"/>
                          <a:cs typeface="+mn-cs"/>
                        </a:rPr>
                        <a:t>Investigate regional mortality differences; targeted outreach for low-coverage areas.</a:t>
                      </a:r>
                      <a:endParaRPr dirty="0"/>
                    </a:p>
                  </a:txBody>
                  <a:tcPr>
                    <a:solidFill>
                      <a:srgbClr val="FFFFFF"/>
                    </a:solidFill>
                  </a:tcPr>
                </a:tc>
                <a:extLst>
                  <a:ext uri="{0D108BD9-81ED-4DB2-BD59-A6C34878D82A}">
                    <a16:rowId xmlns:a16="http://schemas.microsoft.com/office/drawing/2014/main" val="10004"/>
                  </a:ext>
                </a:extLst>
              </a:tr>
              <a:tr h="510540">
                <a:tc>
                  <a:txBody>
                    <a:bodyPr/>
                    <a:lstStyle/>
                    <a:p>
                      <a:pPr>
                        <a:defRPr sz="819">
                          <a:solidFill>
                            <a:srgbClr val="1E293B"/>
                          </a:solidFill>
                          <a:latin typeface="Segoe UI"/>
                        </a:defRPr>
                      </a:pPr>
                      <a:r>
                        <a:t>05 Stock Market</a:t>
                      </a:r>
                      <a:br/>
                      <a:r>
                        <a:t>(252 trading days)</a:t>
                      </a:r>
                    </a:p>
                  </a:txBody>
                  <a:tcPr>
                    <a:solidFill>
                      <a:srgbClr val="F8FAFC"/>
                    </a:solidFill>
                  </a:tcPr>
                </a:tc>
                <a:tc>
                  <a:txBody>
                    <a:bodyPr/>
                    <a:lstStyle/>
                    <a:p>
                      <a:pPr>
                        <a:defRPr sz="819">
                          <a:solidFill>
                            <a:srgbClr val="1E293B"/>
                          </a:solidFill>
                          <a:latin typeface="Segoe UI"/>
                        </a:defRPr>
                      </a:pPr>
                      <a:r>
                        <a:t>What are the asset return dynamics, price volatility, &amp; risk-adjusted metrics?</a:t>
                      </a:r>
                    </a:p>
                  </a:txBody>
                  <a:tcPr>
                    <a:solidFill>
                      <a:srgbClr val="F8FAFC"/>
                    </a:solidFill>
                  </a:tcPr>
                </a:tc>
                <a:tc>
                  <a:txBody>
                    <a:bodyPr/>
                    <a:lstStyle/>
                    <a:p>
                      <a:pPr>
                        <a:defRPr sz="819">
                          <a:solidFill>
                            <a:srgbClr val="1E293B"/>
                          </a:solidFill>
                          <a:latin typeface="Segoe UI"/>
                        </a:defRPr>
                      </a:pPr>
                      <a:r>
                        <a:t>Compounded return (10.14%), annualized vol (30.87%), drawdown, Sharpe</a:t>
                      </a:r>
                    </a:p>
                  </a:txBody>
                  <a:tcPr>
                    <a:solidFill>
                      <a:srgbClr val="F8FAFC"/>
                    </a:solidFill>
                  </a:tcPr>
                </a:tc>
                <a:tc>
                  <a:txBody>
                    <a:bodyPr/>
                    <a:lstStyle/>
                    <a:p>
                      <a:pPr>
                        <a:defRPr sz="819">
                          <a:solidFill>
                            <a:srgbClr val="1E293B"/>
                          </a:solidFill>
                          <a:latin typeface="Segoe UI"/>
                        </a:defRPr>
                      </a:pPr>
                      <a:r>
                        <a:t>OHLC price trends, return histograms, drawdown profiles</a:t>
                      </a:r>
                    </a:p>
                  </a:txBody>
                  <a:tcPr>
                    <a:solidFill>
                      <a:srgbClr val="F8FAFC"/>
                    </a:solidFill>
                  </a:tcPr>
                </a:tc>
                <a:tc>
                  <a:txBody>
                    <a:bodyPr/>
                    <a:lstStyle/>
                    <a:p>
                      <a:pPr>
                        <a:defRPr sz="819">
                          <a:solidFill>
                            <a:srgbClr val="1E293B"/>
                          </a:solidFill>
                          <a:latin typeface="Segoe UI"/>
                        </a:defRPr>
                      </a:pPr>
                      <a:r>
                        <a:rPr dirty="0"/>
                        <a:t>Stress-test portfolios against -26.85% drawdown; reference $80-$85</a:t>
                      </a:r>
                    </a:p>
                  </a:txBody>
                  <a:tcPr>
                    <a:solidFill>
                      <a:srgbClr val="F8FAFC"/>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731520" y="480060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4910328"/>
            <a:ext cx="4882896" cy="1197864"/>
          </a:xfrm>
          <a:prstGeom prst="rect">
            <a:avLst/>
          </a:prstGeom>
          <a:noFill/>
        </p:spPr>
        <p:txBody>
          <a:bodyPr wrap="square" lIns="0" tIns="0" rIns="0" bIns="0">
            <a:spAutoFit/>
          </a:bodyPr>
          <a:lstStyle/>
          <a:p>
            <a:pPr>
              <a:spcAft>
                <a:spcPts val="400"/>
              </a:spcAft>
              <a:defRPr sz="1100" b="1">
                <a:solidFill>
                  <a:srgbClr val="0F172A"/>
                </a:solidFill>
                <a:latin typeface="Segoe UI"/>
              </a:defRPr>
            </a:pPr>
            <a:r>
              <a:t>Analytical Commonality Across Domains</a:t>
            </a:r>
          </a:p>
          <a:p>
            <a:pPr>
              <a:spcAft>
                <a:spcPts val="300"/>
              </a:spcAft>
            </a:pPr>
            <a:r>
              <a:rPr sz="900" b="1">
                <a:solidFill>
                  <a:srgbClr val="1E293B"/>
                </a:solidFill>
                <a:latin typeface="Segoe UI"/>
              </a:rPr>
              <a:t>• Structured Data Lifecycle: </a:t>
            </a:r>
            <a:r>
              <a:rPr sz="900">
                <a:solidFill>
                  <a:srgbClr val="334155"/>
                </a:solidFill>
                <a:latin typeface="Segoe UI"/>
              </a:rPr>
              <a:t>Each project advanced through uniform data ingestion, validation, and exploratory profiling.</a:t>
            </a:r>
          </a:p>
          <a:p>
            <a:pPr>
              <a:spcAft>
                <a:spcPts val="300"/>
              </a:spcAft>
            </a:pPr>
            <a:r>
              <a:rPr sz="900" b="1">
                <a:solidFill>
                  <a:srgbClr val="1E293B"/>
                </a:solidFill>
                <a:latin typeface="Segoe UI"/>
              </a:rPr>
              <a:t>• Integrity Preservation: </a:t>
            </a:r>
            <a:r>
              <a:rPr sz="900">
                <a:solidFill>
                  <a:srgbClr val="334155"/>
                </a:solidFill>
                <a:latin typeface="Segoe UI"/>
              </a:rPr>
              <a:t>Anomalies (OHLC inconsistencies, financial mismatches) were investigated and documented, not masked.</a:t>
            </a:r>
          </a:p>
        </p:txBody>
      </p:sp>
      <p:sp>
        <p:nvSpPr>
          <p:cNvPr id="7" name="Rounded Rectangle 6"/>
          <p:cNvSpPr/>
          <p:nvPr/>
        </p:nvSpPr>
        <p:spPr>
          <a:xfrm>
            <a:off x="6248095" y="480060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12687" y="4910328"/>
            <a:ext cx="4882896" cy="1197864"/>
          </a:xfrm>
          <a:prstGeom prst="rect">
            <a:avLst/>
          </a:prstGeom>
          <a:noFill/>
        </p:spPr>
        <p:txBody>
          <a:bodyPr wrap="square" lIns="0" tIns="0" rIns="0" bIns="0">
            <a:spAutoFit/>
          </a:bodyPr>
          <a:lstStyle/>
          <a:p>
            <a:pPr>
              <a:spcAft>
                <a:spcPts val="400"/>
              </a:spcAft>
              <a:defRPr sz="1100" b="1">
                <a:solidFill>
                  <a:srgbClr val="0F172A"/>
                </a:solidFill>
                <a:latin typeface="Segoe UI"/>
              </a:defRPr>
            </a:pPr>
            <a:r>
              <a:t>Turning Raw Data Into Decisions</a:t>
            </a:r>
          </a:p>
          <a:p>
            <a:pPr>
              <a:spcAft>
                <a:spcPts val="300"/>
              </a:spcAft>
            </a:pPr>
            <a:r>
              <a:rPr sz="900" b="1">
                <a:solidFill>
                  <a:srgbClr val="1E293B"/>
                </a:solidFill>
                <a:latin typeface="Segoe UI"/>
              </a:rPr>
              <a:t>• Avoiding Causal Traps: </a:t>
            </a:r>
            <a:r>
              <a:rPr sz="900">
                <a:solidFill>
                  <a:srgbClr val="334155"/>
                </a:solidFill>
                <a:latin typeface="Segoe UI"/>
              </a:rPr>
              <a:t>Maintained scientific discipline by treating weak correlations and associations without inventing causation.</a:t>
            </a:r>
          </a:p>
          <a:p>
            <a:pPr>
              <a:spcAft>
                <a:spcPts val="300"/>
              </a:spcAft>
            </a:pPr>
            <a:r>
              <a:rPr sz="900" b="1">
                <a:solidFill>
                  <a:srgbClr val="1E293B"/>
                </a:solidFill>
                <a:latin typeface="Segoe UI"/>
              </a:rPr>
              <a:t>• Testable Hypotheses: </a:t>
            </a:r>
            <a:r>
              <a:rPr sz="900">
                <a:solidFill>
                  <a:srgbClr val="334155"/>
                </a:solidFill>
                <a:latin typeface="Segoe UI"/>
              </a:rPr>
              <a:t>All operational proposals are framed as measurable, testable actions with trackable KPIs.</a:t>
            </a:r>
          </a:p>
        </p:txBody>
      </p:sp>
      <p:sp>
        <p:nvSpPr>
          <p:cNvPr id="9" name="Rectangle 8"/>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11" name="TextBox 10"/>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08 of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QUALITY ASSURANCE &amp; ENGINEERING</a:t>
            </a:r>
          </a:p>
          <a:p>
            <a:pPr>
              <a:spcAft>
                <a:spcPts val="200"/>
              </a:spcAft>
              <a:defRPr sz="2000" b="1">
                <a:solidFill>
                  <a:srgbClr val="0F172A"/>
                </a:solidFill>
                <a:latin typeface="Segoe UI"/>
              </a:defRPr>
            </a:pPr>
            <a:r>
              <a:t>Data Quality, Validation &amp; Automated Testing</a:t>
            </a:r>
          </a:p>
          <a:p>
            <a:pPr>
              <a:defRPr sz="1100">
                <a:solidFill>
                  <a:srgbClr val="64748B"/>
                </a:solidFill>
                <a:latin typeface="Segoe UI"/>
              </a:defRPr>
            </a:pPr>
            <a:r>
              <a:t>Ensuring data integrity through automated unit testing, shape assertions, and anomaly detection</a:t>
            </a:r>
          </a:p>
        </p:txBody>
      </p:sp>
      <p:sp>
        <p:nvSpPr>
          <p:cNvPr id="3" name="Rounded Rectangle 2"/>
          <p:cNvSpPr/>
          <p:nvPr/>
        </p:nvSpPr>
        <p:spPr>
          <a:xfrm>
            <a:off x="731520" y="1417320"/>
            <a:ext cx="10728655" cy="777240"/>
          </a:xfrm>
          <a:prstGeom prst="roundRect">
            <a:avLst/>
          </a:prstGeom>
          <a:solidFill>
            <a:srgbClr val="DCFCE7"/>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490472"/>
            <a:ext cx="10362895" cy="640080"/>
          </a:xfrm>
          <a:prstGeom prst="rect">
            <a:avLst/>
          </a:prstGeom>
          <a:noFill/>
        </p:spPr>
        <p:txBody>
          <a:bodyPr wrap="square" lIns="0" tIns="0" rIns="0" bIns="0">
            <a:spAutoFit/>
          </a:bodyPr>
          <a:lstStyle/>
          <a:p>
            <a:pPr>
              <a:defRPr sz="1100" b="1">
                <a:solidFill>
                  <a:srgbClr val="15803D"/>
                </a:solidFill>
                <a:latin typeface="Segoe UI"/>
              </a:defRPr>
            </a:pPr>
            <a:r>
              <a:t>VERIFIED AUTOMATED TEST SUITE: 18 TESTS PASSED VIA PYTEST IN 1.36s</a:t>
            </a:r>
          </a:p>
          <a:p>
            <a:pPr>
              <a:defRPr sz="850">
                <a:solidFill>
                  <a:srgbClr val="0F172A"/>
                </a:solidFill>
                <a:latin typeface="Segoe UI"/>
              </a:defRPr>
            </a:pPr>
            <a:r>
              <a:t>100% test pass rate across 6 test modules: test_supermarket.py (3), test_student.py (3), test_weather.py (3), test_covid.py (3), test_stock_market.py (3), test_data_validation.py (3).</a:t>
            </a:r>
          </a:p>
        </p:txBody>
      </p:sp>
      <p:sp>
        <p:nvSpPr>
          <p:cNvPr id="5" name="Rounded Rectangle 4"/>
          <p:cNvSpPr/>
          <p:nvPr/>
        </p:nvSpPr>
        <p:spPr>
          <a:xfrm>
            <a:off x="731520" y="2331720"/>
            <a:ext cx="3429000"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2441448"/>
            <a:ext cx="3099816" cy="3666744"/>
          </a:xfrm>
          <a:prstGeom prst="rect">
            <a:avLst/>
          </a:prstGeom>
          <a:noFill/>
        </p:spPr>
        <p:txBody>
          <a:bodyPr wrap="square" lIns="0" tIns="0" rIns="0" bIns="0">
            <a:spAutoFit/>
          </a:bodyPr>
          <a:lstStyle/>
          <a:p>
            <a:pPr>
              <a:spcAft>
                <a:spcPts val="400"/>
              </a:spcAft>
              <a:defRPr sz="1100" b="1">
                <a:solidFill>
                  <a:srgbClr val="0F172A"/>
                </a:solidFill>
                <a:latin typeface="Segoe UI"/>
              </a:defRPr>
            </a:pPr>
            <a:r>
              <a:t>Reusable Architecture (src/)</a:t>
            </a:r>
          </a:p>
          <a:p>
            <a:pPr>
              <a:spcAft>
                <a:spcPts val="300"/>
              </a:spcAft>
            </a:pPr>
            <a:r>
              <a:rPr sz="900" b="1">
                <a:solidFill>
                  <a:srgbClr val="1E293B"/>
                </a:solidFill>
                <a:latin typeface="Segoe UI"/>
              </a:rPr>
              <a:t>• check_dataset_shape(): </a:t>
            </a:r>
            <a:r>
              <a:rPr sz="900">
                <a:solidFill>
                  <a:srgbClr val="334155"/>
                </a:solidFill>
                <a:latin typeface="Segoe UI"/>
              </a:rPr>
              <a:t>Validates exact dimensional conformance against expected row and column counts.</a:t>
            </a:r>
          </a:p>
          <a:p>
            <a:pPr>
              <a:spcAft>
                <a:spcPts val="300"/>
              </a:spcAft>
            </a:pPr>
            <a:r>
              <a:rPr sz="900" b="1">
                <a:solidFill>
                  <a:srgbClr val="1E293B"/>
                </a:solidFill>
                <a:latin typeface="Segoe UI"/>
              </a:rPr>
              <a:t>• check_missing_values(): </a:t>
            </a:r>
            <a:r>
              <a:rPr sz="900">
                <a:solidFill>
                  <a:srgbClr val="334155"/>
                </a:solidFill>
                <a:latin typeface="Segoe UI"/>
              </a:rPr>
              <a:t>Audits global null counts across all dataset columns and data types.</a:t>
            </a:r>
          </a:p>
          <a:p>
            <a:pPr>
              <a:spcAft>
                <a:spcPts val="300"/>
              </a:spcAft>
            </a:pPr>
            <a:r>
              <a:rPr sz="900" b="1">
                <a:solidFill>
                  <a:srgbClr val="1E293B"/>
                </a:solidFill>
                <a:latin typeface="Segoe UI"/>
              </a:rPr>
              <a:t>• check_duplicate_rows(): </a:t>
            </a:r>
            <a:r>
              <a:rPr sz="900">
                <a:solidFill>
                  <a:srgbClr val="334155"/>
                </a:solidFill>
                <a:latin typeface="Segoe UI"/>
              </a:rPr>
              <a:t>Ensures zero duplicate record contamination across transactions and observations.</a:t>
            </a:r>
          </a:p>
          <a:p>
            <a:pPr>
              <a:spcAft>
                <a:spcPts val="300"/>
              </a:spcAft>
            </a:pPr>
            <a:r>
              <a:rPr sz="900" b="1">
                <a:solidFill>
                  <a:srgbClr val="1E293B"/>
                </a:solidFill>
                <a:latin typeface="Segoe UI"/>
              </a:rPr>
              <a:t>• DRY Modular Design: </a:t>
            </a:r>
            <a:r>
              <a:rPr sz="900">
                <a:solidFill>
                  <a:srgbClr val="334155"/>
                </a:solidFill>
                <a:latin typeface="Segoe UI"/>
              </a:rPr>
              <a:t>Standardized functions in src/data_validation.py imported directly into automated test scripts.</a:t>
            </a:r>
          </a:p>
          <a:p>
            <a:pPr>
              <a:spcAft>
                <a:spcPts val="300"/>
              </a:spcAft>
            </a:pPr>
            <a:r>
              <a:rPr sz="900" b="1">
                <a:solidFill>
                  <a:srgbClr val="1E293B"/>
                </a:solidFill>
                <a:latin typeface="Segoe UI"/>
              </a:rPr>
              <a:t>• Defensive Engineering: </a:t>
            </a:r>
            <a:r>
              <a:rPr sz="900">
                <a:solidFill>
                  <a:srgbClr val="334155"/>
                </a:solidFill>
                <a:latin typeface="Segoe UI"/>
              </a:rPr>
              <a:t>Enforces schema constraints before downstream statistical ingestion or modeling.</a:t>
            </a:r>
          </a:p>
        </p:txBody>
      </p:sp>
      <p:sp>
        <p:nvSpPr>
          <p:cNvPr id="7" name="Rounded Rectangle 6"/>
          <p:cNvSpPr/>
          <p:nvPr/>
        </p:nvSpPr>
        <p:spPr>
          <a:xfrm>
            <a:off x="4379976" y="2331720"/>
            <a:ext cx="3429000"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44568" y="2441448"/>
            <a:ext cx="3099816" cy="3666744"/>
          </a:xfrm>
          <a:prstGeom prst="rect">
            <a:avLst/>
          </a:prstGeom>
          <a:noFill/>
        </p:spPr>
        <p:txBody>
          <a:bodyPr wrap="square" lIns="0" tIns="0" rIns="0" bIns="0">
            <a:spAutoFit/>
          </a:bodyPr>
          <a:lstStyle/>
          <a:p>
            <a:pPr>
              <a:spcAft>
                <a:spcPts val="400"/>
              </a:spcAft>
              <a:defRPr sz="1100" b="1">
                <a:solidFill>
                  <a:srgbClr val="0F172A"/>
                </a:solidFill>
                <a:latin typeface="Segoe UI"/>
              </a:defRPr>
            </a:pPr>
            <a:r>
              <a:t>Dataset Dimensions &amp; Completeness</a:t>
            </a:r>
          </a:p>
          <a:p>
            <a:pPr>
              <a:spcAft>
                <a:spcPts val="300"/>
              </a:spcAft>
            </a:pPr>
            <a:r>
              <a:rPr sz="900" b="1">
                <a:solidFill>
                  <a:srgbClr val="1E293B"/>
                </a:solidFill>
                <a:latin typeface="Segoe UI"/>
              </a:rPr>
              <a:t>• Supermarket Sales: </a:t>
            </a:r>
            <a:r>
              <a:rPr sz="900">
                <a:solidFill>
                  <a:srgbClr val="334155"/>
                </a:solidFill>
                <a:latin typeface="Segoe UI"/>
              </a:rPr>
              <a:t>2,000 rows × 14 columns; 0 missing values; 0 duplicate rows.</a:t>
            </a:r>
          </a:p>
          <a:p>
            <a:pPr>
              <a:spcAft>
                <a:spcPts val="300"/>
              </a:spcAft>
            </a:pPr>
            <a:r>
              <a:rPr sz="900" b="1">
                <a:solidFill>
                  <a:srgbClr val="1E293B"/>
                </a:solidFill>
                <a:latin typeface="Segoe UI"/>
              </a:rPr>
              <a:t>• Student Performance: </a:t>
            </a:r>
            <a:r>
              <a:rPr sz="900">
                <a:solidFill>
                  <a:srgbClr val="334155"/>
                </a:solidFill>
                <a:latin typeface="Segoe UI"/>
              </a:rPr>
              <a:t>500 rows × 10 columns; 0 missing values; 0 duplicate rows; verified score ranges (35-100).</a:t>
            </a:r>
          </a:p>
          <a:p>
            <a:pPr>
              <a:spcAft>
                <a:spcPts val="300"/>
              </a:spcAft>
            </a:pPr>
            <a:r>
              <a:rPr sz="900" b="1">
                <a:solidFill>
                  <a:srgbClr val="1E293B"/>
                </a:solidFill>
                <a:latin typeface="Segoe UI"/>
              </a:rPr>
              <a:t>• Weather Observations: </a:t>
            </a:r>
            <a:r>
              <a:rPr sz="900">
                <a:solidFill>
                  <a:srgbClr val="334155"/>
                </a:solidFill>
                <a:latin typeface="Segoe UI"/>
              </a:rPr>
              <a:t>365 rows × 12 columns; 0 missing values; 0 duplicate rows; verified meteorological ranges.</a:t>
            </a:r>
          </a:p>
          <a:p>
            <a:pPr>
              <a:spcAft>
                <a:spcPts val="300"/>
              </a:spcAft>
            </a:pPr>
            <a:r>
              <a:rPr sz="900" b="1">
                <a:solidFill>
                  <a:srgbClr val="1E293B"/>
                </a:solidFill>
                <a:latin typeface="Segoe UI"/>
              </a:rPr>
              <a:t>• COVID-19 Tracking: </a:t>
            </a:r>
            <a:r>
              <a:rPr sz="900">
                <a:solidFill>
                  <a:srgbClr val="334155"/>
                </a:solidFill>
                <a:latin typeface="Segoe UI"/>
              </a:rPr>
              <a:t>1,825 rows × 10 columns; 0 missing values; 0 duplicate rows; 5 regions × 365 days.</a:t>
            </a:r>
          </a:p>
          <a:p>
            <a:pPr>
              <a:spcAft>
                <a:spcPts val="300"/>
              </a:spcAft>
            </a:pPr>
            <a:r>
              <a:rPr sz="900" b="1">
                <a:solidFill>
                  <a:srgbClr val="1E293B"/>
                </a:solidFill>
                <a:latin typeface="Segoe UI"/>
              </a:rPr>
              <a:t>• Stock Market Data: </a:t>
            </a:r>
            <a:r>
              <a:rPr sz="900">
                <a:solidFill>
                  <a:srgbClr val="334155"/>
                </a:solidFill>
                <a:latin typeface="Segoe UI"/>
              </a:rPr>
              <a:t>252 rows × 12 columns; 0 duplicate rows; 2 expected NaNs (Day 1 Daily &amp; Cumulative Return).</a:t>
            </a:r>
          </a:p>
        </p:txBody>
      </p:sp>
      <p:sp>
        <p:nvSpPr>
          <p:cNvPr id="9" name="Rounded Rectangle 8"/>
          <p:cNvSpPr/>
          <p:nvPr/>
        </p:nvSpPr>
        <p:spPr>
          <a:xfrm>
            <a:off x="8028432" y="2331720"/>
            <a:ext cx="3429000"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93024" y="2441448"/>
            <a:ext cx="3099816" cy="2313454"/>
          </a:xfrm>
          <a:prstGeom prst="rect">
            <a:avLst/>
          </a:prstGeom>
          <a:noFill/>
        </p:spPr>
        <p:txBody>
          <a:bodyPr wrap="square" lIns="0" tIns="0" rIns="0" bIns="0">
            <a:spAutoFit/>
          </a:bodyPr>
          <a:lstStyle/>
          <a:p>
            <a:pPr>
              <a:spcAft>
                <a:spcPts val="400"/>
              </a:spcAft>
              <a:defRPr sz="1100" b="1">
                <a:solidFill>
                  <a:srgbClr val="0F172A"/>
                </a:solidFill>
                <a:latin typeface="Segoe UI"/>
              </a:defRPr>
            </a:pPr>
            <a:r>
              <a:rPr dirty="0"/>
              <a:t>Integrity Audits &amp; Derived Metrics</a:t>
            </a:r>
          </a:p>
          <a:p>
            <a:pPr>
              <a:spcAft>
                <a:spcPts val="300"/>
              </a:spcAft>
            </a:pPr>
            <a:r>
              <a:rPr sz="900" b="1" dirty="0">
                <a:solidFill>
                  <a:srgbClr val="1E293B"/>
                </a:solidFill>
                <a:latin typeface="Segoe UI"/>
              </a:rPr>
              <a:t>• Supermarket Financial Check: </a:t>
            </a:r>
            <a:r>
              <a:rPr sz="900" dirty="0">
                <a:solidFill>
                  <a:srgbClr val="334155"/>
                </a:solidFill>
                <a:latin typeface="Segoe UI"/>
              </a:rPr>
              <a:t>Flagged calculation discrepancy between Unit Price × Quantity + Tax and Total. Original data retained.</a:t>
            </a:r>
          </a:p>
          <a:p>
            <a:pPr>
              <a:spcAft>
                <a:spcPts val="300"/>
              </a:spcAft>
            </a:pPr>
            <a:r>
              <a:rPr sz="900" b="1" dirty="0">
                <a:solidFill>
                  <a:srgbClr val="1E293B"/>
                </a:solidFill>
                <a:latin typeface="Segoe UI"/>
              </a:rPr>
              <a:t>• Stock OHLC Validation: </a:t>
            </a:r>
            <a:r>
              <a:rPr sz="900" dirty="0">
                <a:solidFill>
                  <a:srgbClr val="334155"/>
                </a:solidFill>
                <a:latin typeface="Segoe UI"/>
              </a:rPr>
              <a:t>Identified 78 rows with Open price anomalies (40 Open &gt; High, 38 Open &lt; Low). High &gt;= Low had 0 violations.</a:t>
            </a:r>
          </a:p>
          <a:p>
            <a:pPr>
              <a:spcAft>
                <a:spcPts val="300"/>
              </a:spcAft>
            </a:pPr>
            <a:r>
              <a:rPr sz="900" b="1" dirty="0">
                <a:solidFill>
                  <a:srgbClr val="1E293B"/>
                </a:solidFill>
                <a:latin typeface="Segoe UI"/>
              </a:rPr>
              <a:t>• Return Calculation Check: </a:t>
            </a:r>
            <a:r>
              <a:rPr sz="900" dirty="0">
                <a:solidFill>
                  <a:srgbClr val="334155"/>
                </a:solidFill>
                <a:latin typeface="Segoe UI"/>
              </a:rPr>
              <a:t>Validated supplied </a:t>
            </a:r>
            <a:r>
              <a:rPr sz="900" dirty="0" err="1">
                <a:solidFill>
                  <a:srgbClr val="334155"/>
                </a:solidFill>
                <a:latin typeface="Segoe UI"/>
              </a:rPr>
              <a:t>Daily_Return</a:t>
            </a:r>
            <a:r>
              <a:rPr sz="900" dirty="0">
                <a:solidFill>
                  <a:srgbClr val="334155"/>
                </a:solidFill>
                <a:latin typeface="Segoe UI"/>
              </a:rPr>
              <a:t> and </a:t>
            </a:r>
            <a:r>
              <a:rPr sz="900" dirty="0" err="1">
                <a:solidFill>
                  <a:srgbClr val="334155"/>
                </a:solidFill>
                <a:latin typeface="Segoe UI"/>
              </a:rPr>
              <a:t>Cumulative_Return</a:t>
            </a:r>
            <a:r>
              <a:rPr sz="900" dirty="0">
                <a:solidFill>
                  <a:srgbClr val="334155"/>
                </a:solidFill>
                <a:latin typeface="Segoe UI"/>
              </a:rPr>
              <a:t> against price formulas: max error &lt; 4.44e-14% (floating point precision).</a:t>
            </a:r>
          </a:p>
          <a:p>
            <a:pPr>
              <a:spcAft>
                <a:spcPts val="300"/>
              </a:spcAft>
            </a:pPr>
            <a:r>
              <a:rPr sz="900" b="1" dirty="0">
                <a:solidFill>
                  <a:srgbClr val="1E293B"/>
                </a:solidFill>
                <a:latin typeface="Segoe UI"/>
              </a:rPr>
              <a:t>• Preserving Raw</a:t>
            </a:r>
            <a:r>
              <a:rPr lang="en-IN" sz="900" b="1" dirty="0">
                <a:solidFill>
                  <a:srgbClr val="1E293B"/>
                </a:solidFill>
                <a:latin typeface="Segoe UI"/>
              </a:rPr>
              <a:t> Data</a:t>
            </a:r>
            <a:r>
              <a:rPr sz="900" b="1" dirty="0">
                <a:solidFill>
                  <a:srgbClr val="1E293B"/>
                </a:solidFill>
                <a:latin typeface="Segoe UI"/>
              </a:rPr>
              <a:t> : </a:t>
            </a:r>
            <a:r>
              <a:rPr lang="en-IN" sz="900" dirty="0"/>
              <a:t>Source anomalies were documented as limitations rather than artificially altered</a:t>
            </a:r>
            <a:endParaRPr sz="900" dirty="0">
              <a:solidFill>
                <a:srgbClr val="334155"/>
              </a:solidFill>
              <a:latin typeface="Segoe UI"/>
            </a:endParaRPr>
          </a:p>
          <a:p>
            <a:pPr>
              <a:spcAft>
                <a:spcPts val="300"/>
              </a:spcAft>
            </a:pPr>
            <a:r>
              <a:rPr sz="900" b="1" dirty="0">
                <a:solidFill>
                  <a:srgbClr val="1E293B"/>
                </a:solidFill>
                <a:latin typeface="Segoe UI"/>
              </a:rPr>
              <a:t>• Reproducible Pipeline: </a:t>
            </a:r>
            <a:r>
              <a:rPr lang="en-IN" sz="900" dirty="0"/>
              <a:t>Automated checks are version-controlled and can be re-executed locally through the </a:t>
            </a:r>
            <a:r>
              <a:rPr lang="en-IN" sz="900" dirty="0" err="1"/>
              <a:t>pytest</a:t>
            </a:r>
            <a:r>
              <a:rPr lang="en-IN" sz="900" dirty="0"/>
              <a:t> test suite.</a:t>
            </a:r>
            <a:endParaRPr sz="900" dirty="0">
              <a:solidFill>
                <a:srgbClr val="334155"/>
              </a:solidFill>
              <a:latin typeface="Segoe UI"/>
            </a:endParaRPr>
          </a:p>
        </p:txBody>
      </p:sp>
      <p:sp>
        <p:nvSpPr>
          <p:cNvPr id="11" name="Rectangle 10"/>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13" name="TextBox 12"/>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09 of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STRATEGIC ACTION PLAN</a:t>
            </a:r>
          </a:p>
          <a:p>
            <a:pPr>
              <a:spcAft>
                <a:spcPts val="200"/>
              </a:spcAft>
              <a:defRPr sz="2000" b="1">
                <a:solidFill>
                  <a:srgbClr val="0F172A"/>
                </a:solidFill>
                <a:latin typeface="Segoe UI"/>
              </a:defRPr>
            </a:pPr>
            <a:r>
              <a:t>Cross-Domain Business Recommendations</a:t>
            </a:r>
          </a:p>
          <a:p>
            <a:pPr>
              <a:defRPr sz="1100">
                <a:solidFill>
                  <a:srgbClr val="64748B"/>
                </a:solidFill>
                <a:latin typeface="Segoe UI"/>
              </a:defRPr>
            </a:pPr>
            <a:r>
              <a:t>Translating empirical data findings into testable operational adjustments, resource allocations, and monitored KPIs</a:t>
            </a:r>
          </a:p>
        </p:txBody>
      </p:sp>
      <p:sp>
        <p:nvSpPr>
          <p:cNvPr id="3" name="Rounded Rectangle 2"/>
          <p:cNvSpPr/>
          <p:nvPr/>
        </p:nvSpPr>
        <p:spPr>
          <a:xfrm>
            <a:off x="731520" y="141732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72184"/>
            <a:ext cx="10454335" cy="758952"/>
          </a:xfrm>
          <a:prstGeom prst="rect">
            <a:avLst/>
          </a:prstGeom>
          <a:noFill/>
        </p:spPr>
        <p:txBody>
          <a:bodyPr wrap="square" lIns="0" tIns="0" rIns="0" bIns="0">
            <a:spAutoFit/>
          </a:bodyPr>
          <a:lstStyle/>
          <a:p>
            <a:pPr>
              <a:defRPr sz="850" b="1">
                <a:solidFill>
                  <a:srgbClr val="0D9488"/>
                </a:solidFill>
                <a:latin typeface="Segoe UI"/>
              </a:defRPr>
            </a:pPr>
            <a:r>
              <a:t>01 SUPERMARKET SALES</a:t>
            </a:r>
          </a:p>
          <a:p>
            <a:pPr>
              <a:spcAft>
                <a:spcPts val="100"/>
              </a:spcAft>
            </a:pPr>
            <a:r>
              <a:rPr sz="819" b="1">
                <a:solidFill>
                  <a:srgbClr val="0F172A"/>
                </a:solidFill>
              </a:rPr>
              <a:t>Empirical Finding: </a:t>
            </a:r>
            <a:r>
              <a:rPr sz="819">
                <a:solidFill>
                  <a:srgbClr val="334155"/>
                </a:solidFill>
              </a:rPr>
              <a:t>42.2% of transactions occur in the afternoon (12-5 PM); Branch C lags Branch B by 4.1%; 18.7% give low ratings.  |  </a:t>
            </a:r>
            <a:r>
              <a:rPr sz="819" b="1">
                <a:solidFill>
                  <a:srgbClr val="0F172A"/>
                </a:solidFill>
              </a:rPr>
              <a:t>Strategic Action: </a:t>
            </a:r>
            <a:r>
              <a:rPr sz="819">
                <a:solidFill>
                  <a:srgbClr val="334155"/>
                </a:solidFill>
              </a:rPr>
              <a:t>Reallocate staff &amp; open additional checkout lanes from 12-5 PM; audit Branch C footfall; address low-satisfaction issues.</a:t>
            </a:r>
          </a:p>
          <a:p>
            <a:r>
              <a:rPr sz="780" b="1">
                <a:solidFill>
                  <a:srgbClr val="0284C7"/>
                </a:solidFill>
              </a:rPr>
              <a:t>Target Evaluation KPIs: </a:t>
            </a:r>
            <a:r>
              <a:rPr sz="780">
                <a:solidFill>
                  <a:srgbClr val="64748B"/>
                </a:solidFill>
              </a:rPr>
              <a:t>Hourly queue times, Branch C revenue gap, customer rating trajectory, percentage of low ratings.</a:t>
            </a:r>
          </a:p>
        </p:txBody>
      </p:sp>
      <p:sp>
        <p:nvSpPr>
          <p:cNvPr id="5" name="Rounded Rectangle 4"/>
          <p:cNvSpPr/>
          <p:nvPr/>
        </p:nvSpPr>
        <p:spPr>
          <a:xfrm>
            <a:off x="731520" y="2395728"/>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450592"/>
            <a:ext cx="10454335" cy="758952"/>
          </a:xfrm>
          <a:prstGeom prst="rect">
            <a:avLst/>
          </a:prstGeom>
          <a:noFill/>
        </p:spPr>
        <p:txBody>
          <a:bodyPr wrap="square" lIns="0" tIns="0" rIns="0" bIns="0">
            <a:spAutoFit/>
          </a:bodyPr>
          <a:lstStyle/>
          <a:p>
            <a:pPr>
              <a:defRPr sz="850" b="1">
                <a:solidFill>
                  <a:srgbClr val="0D9488"/>
                </a:solidFill>
                <a:latin typeface="Segoe UI"/>
              </a:defRPr>
            </a:pPr>
            <a:r>
              <a:t>02 STUDENT PERFORMANCE</a:t>
            </a:r>
          </a:p>
          <a:p>
            <a:pPr>
              <a:spcAft>
                <a:spcPts val="100"/>
              </a:spcAft>
            </a:pPr>
            <a:r>
              <a:rPr sz="819" b="1">
                <a:solidFill>
                  <a:srgbClr val="0F172A"/>
                </a:solidFill>
              </a:rPr>
              <a:t>Empirical Finding: </a:t>
            </a:r>
            <a:r>
              <a:rPr sz="819">
                <a:solidFill>
                  <a:srgbClr val="334155"/>
                </a:solidFill>
              </a:rPr>
              <a:t>Study hours (r=0.096) and attendance (r=0.077) show very weak linear correlation with grades; effort between tiers differs by &lt;3%.  |  </a:t>
            </a:r>
            <a:r>
              <a:rPr sz="819" b="1">
                <a:solidFill>
                  <a:srgbClr val="0F172A"/>
                </a:solidFill>
              </a:rPr>
              <a:t>Strategic Action: </a:t>
            </a:r>
            <a:r>
              <a:rPr sz="819">
                <a:solidFill>
                  <a:srgbClr val="334155"/>
                </a:solidFill>
              </a:rPr>
              <a:t>Move away from rigid study-hour mandates; implement diagnostic assessments early to identify specific concept gaps.</a:t>
            </a:r>
          </a:p>
          <a:p>
            <a:r>
              <a:rPr sz="780" b="1">
                <a:solidFill>
                  <a:srgbClr val="0284C7"/>
                </a:solidFill>
              </a:rPr>
              <a:t>Target Evaluation KPIs: </a:t>
            </a:r>
            <a:r>
              <a:rPr sz="780">
                <a:solidFill>
                  <a:srgbClr val="64748B"/>
                </a:solidFill>
              </a:rPr>
              <a:t>Diagnostic assessment scores, percentage of students transitioning out of lower tiers, concept mastery metrics.</a:t>
            </a:r>
          </a:p>
        </p:txBody>
      </p:sp>
      <p:sp>
        <p:nvSpPr>
          <p:cNvPr id="7" name="Rounded Rectangle 6"/>
          <p:cNvSpPr/>
          <p:nvPr/>
        </p:nvSpPr>
        <p:spPr>
          <a:xfrm>
            <a:off x="731520" y="3374136"/>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3429000"/>
            <a:ext cx="10454335" cy="540661"/>
          </a:xfrm>
          <a:prstGeom prst="rect">
            <a:avLst/>
          </a:prstGeom>
          <a:noFill/>
        </p:spPr>
        <p:txBody>
          <a:bodyPr wrap="square" lIns="0" tIns="0" rIns="0" bIns="0">
            <a:spAutoFit/>
          </a:bodyPr>
          <a:lstStyle/>
          <a:p>
            <a:pPr>
              <a:defRPr sz="850" b="1">
                <a:solidFill>
                  <a:srgbClr val="0D9488"/>
                </a:solidFill>
                <a:latin typeface="Segoe UI"/>
              </a:defRPr>
            </a:pPr>
            <a:r>
              <a:rPr dirty="0"/>
              <a:t>03 WEATHER &amp; ENVIRONMENT</a:t>
            </a:r>
          </a:p>
          <a:p>
            <a:pPr>
              <a:spcAft>
                <a:spcPts val="100"/>
              </a:spcAft>
            </a:pPr>
            <a:r>
              <a:rPr sz="819" b="1" dirty="0">
                <a:solidFill>
                  <a:srgbClr val="0F172A"/>
                </a:solidFill>
              </a:rPr>
              <a:t>Empirical Finding: </a:t>
            </a:r>
            <a:r>
              <a:rPr sz="819" dirty="0">
                <a:solidFill>
                  <a:srgbClr val="334155"/>
                </a:solidFill>
              </a:rPr>
              <a:t>64.7% of annual rainfall (1,583 mm) falls in 77 days during June-September; peak daily rainfall reached 86.4 mm.  |  </a:t>
            </a:r>
            <a:r>
              <a:rPr sz="819" b="1" dirty="0">
                <a:solidFill>
                  <a:srgbClr val="0F172A"/>
                </a:solidFill>
              </a:rPr>
              <a:t>Strategic Action: </a:t>
            </a:r>
            <a:r>
              <a:rPr lang="en-IN" sz="900" dirty="0"/>
              <a:t>Use observed rainfall concentration and peak rainfall as inputs for drainage and rainwater-management planning; consider seasonal construction scheduling.</a:t>
            </a:r>
            <a:endParaRPr sz="819" dirty="0">
              <a:solidFill>
                <a:srgbClr val="334155"/>
              </a:solidFill>
            </a:endParaRPr>
          </a:p>
          <a:p>
            <a:r>
              <a:rPr sz="780" b="1" dirty="0">
                <a:solidFill>
                  <a:srgbClr val="0284C7"/>
                </a:solidFill>
              </a:rPr>
              <a:t>Target Evaluation KPIs: </a:t>
            </a:r>
            <a:r>
              <a:rPr sz="780" dirty="0">
                <a:solidFill>
                  <a:srgbClr val="64748B"/>
                </a:solidFill>
              </a:rPr>
              <a:t>Rainwater storage capture volume, flood incident frequency during monsoon, seasonal construction delays.</a:t>
            </a:r>
          </a:p>
        </p:txBody>
      </p:sp>
      <p:sp>
        <p:nvSpPr>
          <p:cNvPr id="9" name="Rounded Rectangle 8"/>
          <p:cNvSpPr/>
          <p:nvPr/>
        </p:nvSpPr>
        <p:spPr>
          <a:xfrm>
            <a:off x="731520" y="4352544"/>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407408"/>
            <a:ext cx="10454335" cy="540661"/>
          </a:xfrm>
          <a:prstGeom prst="rect">
            <a:avLst/>
          </a:prstGeom>
          <a:noFill/>
        </p:spPr>
        <p:txBody>
          <a:bodyPr wrap="square" lIns="0" tIns="0" rIns="0" bIns="0">
            <a:spAutoFit/>
          </a:bodyPr>
          <a:lstStyle/>
          <a:p>
            <a:pPr>
              <a:defRPr sz="850" b="1">
                <a:solidFill>
                  <a:srgbClr val="0D9488"/>
                </a:solidFill>
                <a:latin typeface="Segoe UI"/>
              </a:defRPr>
            </a:pPr>
            <a:r>
              <a:rPr dirty="0"/>
              <a:t>04 COVID HEALTHCARE</a:t>
            </a:r>
          </a:p>
          <a:p>
            <a:pPr>
              <a:spcAft>
                <a:spcPts val="100"/>
              </a:spcAft>
            </a:pPr>
            <a:r>
              <a:rPr sz="819" b="1" dirty="0">
                <a:solidFill>
                  <a:srgbClr val="0F172A"/>
                </a:solidFill>
              </a:rPr>
              <a:t>Empirical Finding: </a:t>
            </a:r>
            <a:r>
              <a:rPr sz="819" dirty="0">
                <a:solidFill>
                  <a:srgbClr val="334155"/>
                </a:solidFill>
              </a:rPr>
              <a:t>Central region recorded 42.1% excess mortality over East despite identical average vaccination rates (47.98%).  |  </a:t>
            </a:r>
            <a:r>
              <a:rPr sz="819" b="1" dirty="0">
                <a:solidFill>
                  <a:srgbClr val="0F172A"/>
                </a:solidFill>
              </a:rPr>
              <a:t>Strategic Action: </a:t>
            </a:r>
            <a:r>
              <a:rPr lang="en-IN" sz="900" dirty="0"/>
              <a:t>Investigate the observed regional mortality difference using demographic and healthcare-capacity data; target outreach toward low-coverage areas.</a:t>
            </a:r>
            <a:endParaRPr sz="819" dirty="0">
              <a:solidFill>
                <a:srgbClr val="334155"/>
              </a:solidFill>
            </a:endParaRPr>
          </a:p>
          <a:p>
            <a:r>
              <a:rPr sz="780" b="1" dirty="0">
                <a:solidFill>
                  <a:srgbClr val="0284C7"/>
                </a:solidFill>
              </a:rPr>
              <a:t>Target Evaluation KPIs: </a:t>
            </a:r>
            <a:r>
              <a:rPr sz="780" dirty="0">
                <a:solidFill>
                  <a:srgbClr val="64748B"/>
                </a:solidFill>
              </a:rPr>
              <a:t>Regional case fatality rate (CFR), ICU bed occupancy rate, localized vaccination coverage percentage.</a:t>
            </a:r>
          </a:p>
        </p:txBody>
      </p:sp>
      <p:sp>
        <p:nvSpPr>
          <p:cNvPr id="11" name="Rounded Rectangle 10"/>
          <p:cNvSpPr/>
          <p:nvPr/>
        </p:nvSpPr>
        <p:spPr>
          <a:xfrm>
            <a:off x="731520" y="5330952"/>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5385816"/>
            <a:ext cx="10454335" cy="758952"/>
          </a:xfrm>
          <a:prstGeom prst="rect">
            <a:avLst/>
          </a:prstGeom>
          <a:noFill/>
        </p:spPr>
        <p:txBody>
          <a:bodyPr wrap="square" lIns="0" tIns="0" rIns="0" bIns="0">
            <a:spAutoFit/>
          </a:bodyPr>
          <a:lstStyle/>
          <a:p>
            <a:pPr>
              <a:defRPr sz="850" b="1">
                <a:solidFill>
                  <a:srgbClr val="0D9488"/>
                </a:solidFill>
                <a:latin typeface="Segoe UI"/>
              </a:defRPr>
            </a:pPr>
            <a:r>
              <a:t>05 STOCK MARKET &amp; RISK</a:t>
            </a:r>
          </a:p>
          <a:p>
            <a:pPr>
              <a:spcAft>
                <a:spcPts val="100"/>
              </a:spcAft>
            </a:pPr>
            <a:r>
              <a:rPr sz="819" b="1">
                <a:solidFill>
                  <a:srgbClr val="0F172A"/>
                </a:solidFill>
              </a:rPr>
              <a:t>Empirical Finding: </a:t>
            </a:r>
            <a:r>
              <a:rPr sz="819">
                <a:solidFill>
                  <a:srgbClr val="334155"/>
                </a:solidFill>
              </a:rPr>
              <a:t>Stock delivered +10.14% return but suffered -26.85% maximum drawdown and 30.87% annualized volatility (Sharpe 0.47).  |  </a:t>
            </a:r>
            <a:r>
              <a:rPr sz="819" b="1">
                <a:solidFill>
                  <a:srgbClr val="0F172A"/>
                </a:solidFill>
              </a:rPr>
              <a:t>Strategic Action: </a:t>
            </a:r>
            <a:r>
              <a:rPr sz="819">
                <a:solidFill>
                  <a:srgbClr val="334155"/>
                </a:solidFill>
              </a:rPr>
              <a:t>Treat $80-$85 as historical reference rather than guaranteed support; implement risk management rules to limit drawdowns.</a:t>
            </a:r>
          </a:p>
          <a:p>
            <a:r>
              <a:rPr sz="780" b="1">
                <a:solidFill>
                  <a:srgbClr val="0284C7"/>
                </a:solidFill>
              </a:rPr>
              <a:t>Target Evaluation KPIs: </a:t>
            </a:r>
            <a:r>
              <a:rPr sz="780">
                <a:solidFill>
                  <a:srgbClr val="64748B"/>
                </a:solidFill>
              </a:rPr>
              <a:t>Trailing volatility, maximum peak-to-trough drawdown, Sharpe ratio using prevailing risk-free benchmark.</a:t>
            </a:r>
          </a:p>
        </p:txBody>
      </p:sp>
      <p:sp>
        <p:nvSpPr>
          <p:cNvPr id="13" name="Rectangle 12"/>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15" name="TextBox 14"/>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10 of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674544"/>
          </a:xfrm>
          <a:prstGeom prst="rect">
            <a:avLst/>
          </a:prstGeom>
          <a:noFill/>
        </p:spPr>
        <p:txBody>
          <a:bodyPr wrap="square" lIns="0" tIns="0" rIns="0" bIns="0">
            <a:spAutoFit/>
          </a:bodyPr>
          <a:lstStyle/>
          <a:p>
            <a:pPr>
              <a:spcAft>
                <a:spcPts val="200"/>
              </a:spcAft>
              <a:defRPr sz="950" b="1">
                <a:solidFill>
                  <a:srgbClr val="0D9488"/>
                </a:solidFill>
                <a:latin typeface="Segoe UI"/>
              </a:defRPr>
            </a:pPr>
            <a:r>
              <a:rPr dirty="0"/>
              <a:t>TECHNICAL ARCHITECTURE</a:t>
            </a:r>
          </a:p>
          <a:p>
            <a:pPr>
              <a:spcAft>
                <a:spcPts val="200"/>
              </a:spcAft>
              <a:defRPr sz="2000" b="1">
                <a:solidFill>
                  <a:srgbClr val="0F172A"/>
                </a:solidFill>
                <a:latin typeface="Segoe UI"/>
              </a:defRPr>
            </a:pPr>
            <a:r>
              <a:rPr dirty="0"/>
              <a:t>Technical Implementation &amp; Repository Structure</a:t>
            </a:r>
          </a:p>
          <a:p>
            <a:pPr>
              <a:defRPr sz="1100">
                <a:solidFill>
                  <a:srgbClr val="64748B"/>
                </a:solidFill>
                <a:latin typeface="Segoe UI"/>
              </a:defRPr>
            </a:pPr>
            <a:r>
              <a:rPr lang="en-IN" sz="1100" dirty="0">
                <a:solidFill>
                  <a:srgbClr val="64748B"/>
                </a:solidFill>
                <a:latin typeface="Segoe UI"/>
              </a:rPr>
              <a:t>Modular, reproducible data analysis architecture with reusable validation and testing.</a:t>
            </a:r>
            <a:endParaRPr dirty="0"/>
          </a:p>
        </p:txBody>
      </p:sp>
      <p:sp>
        <p:nvSpPr>
          <p:cNvPr id="3" name="Rounded Rectangle 2"/>
          <p:cNvSpPr/>
          <p:nvPr/>
        </p:nvSpPr>
        <p:spPr>
          <a:xfrm>
            <a:off x="731520" y="1417320"/>
            <a:ext cx="512064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1527048"/>
            <a:ext cx="4791456" cy="1759456"/>
          </a:xfrm>
          <a:prstGeom prst="rect">
            <a:avLst/>
          </a:prstGeom>
          <a:noFill/>
        </p:spPr>
        <p:txBody>
          <a:bodyPr wrap="square" lIns="0" tIns="0" rIns="0" bIns="0">
            <a:spAutoFit/>
          </a:bodyPr>
          <a:lstStyle/>
          <a:p>
            <a:pPr>
              <a:spcAft>
                <a:spcPts val="400"/>
              </a:spcAft>
              <a:defRPr sz="1100" b="1">
                <a:solidFill>
                  <a:srgbClr val="0F172A"/>
                </a:solidFill>
                <a:latin typeface="Segoe UI"/>
              </a:defRPr>
            </a:pPr>
            <a:r>
              <a:rPr dirty="0"/>
              <a:t>Production Data Science Stack</a:t>
            </a:r>
          </a:p>
          <a:p>
            <a:pPr>
              <a:spcAft>
                <a:spcPts val="300"/>
              </a:spcAft>
            </a:pPr>
            <a:r>
              <a:rPr sz="900" b="1" dirty="0">
                <a:solidFill>
                  <a:srgbClr val="1E293B"/>
                </a:solidFill>
                <a:latin typeface="Segoe UI"/>
              </a:rPr>
              <a:t>• Python 3.13 Environment: </a:t>
            </a:r>
            <a:r>
              <a:rPr sz="900" dirty="0">
                <a:solidFill>
                  <a:srgbClr val="334155"/>
                </a:solidFill>
                <a:latin typeface="Segoe UI"/>
              </a:rPr>
              <a:t>High-performance Python runtime executing modern data-processing and analytics packages.</a:t>
            </a:r>
          </a:p>
          <a:p>
            <a:pPr>
              <a:spcAft>
                <a:spcPts val="300"/>
              </a:spcAft>
            </a:pPr>
            <a:r>
              <a:rPr sz="900" b="1" dirty="0">
                <a:solidFill>
                  <a:srgbClr val="1E293B"/>
                </a:solidFill>
                <a:latin typeface="Segoe UI"/>
              </a:rPr>
              <a:t>• Data Wrangling &amp; Math: </a:t>
            </a:r>
            <a:r>
              <a:rPr sz="900" dirty="0">
                <a:solidFill>
                  <a:srgbClr val="334155"/>
                </a:solidFill>
                <a:latin typeface="Segoe UI"/>
              </a:rPr>
              <a:t>Pandas 2.2.0 for vectorized </a:t>
            </a:r>
            <a:r>
              <a:rPr sz="900" dirty="0" err="1">
                <a:solidFill>
                  <a:srgbClr val="334155"/>
                </a:solidFill>
                <a:latin typeface="Segoe UI"/>
              </a:rPr>
              <a:t>dataframe</a:t>
            </a:r>
            <a:r>
              <a:rPr sz="900" dirty="0">
                <a:solidFill>
                  <a:srgbClr val="334155"/>
                </a:solidFill>
                <a:latin typeface="Segoe UI"/>
              </a:rPr>
              <a:t> manipulation; NumPy 1.24.0 for array processing; SciPy 1.12.0 for statistical methods.</a:t>
            </a:r>
          </a:p>
          <a:p>
            <a:pPr>
              <a:spcAft>
                <a:spcPts val="300"/>
              </a:spcAft>
            </a:pPr>
            <a:r>
              <a:rPr sz="900" b="1" dirty="0">
                <a:solidFill>
                  <a:srgbClr val="1E293B"/>
                </a:solidFill>
                <a:latin typeface="Segoe UI"/>
              </a:rPr>
              <a:t>• Visualization Engine: </a:t>
            </a:r>
            <a:r>
              <a:rPr lang="en-IN" sz="900" dirty="0"/>
              <a:t>Matplotlib 3.8.0 and Seaborn 0.13.0 for generating </a:t>
            </a:r>
            <a:r>
              <a:rPr lang="en-IN" sz="900" b="1" dirty="0"/>
              <a:t>22 saved analytical visualizations.</a:t>
            </a:r>
            <a:endParaRPr sz="900" dirty="0">
              <a:solidFill>
                <a:srgbClr val="334155"/>
              </a:solidFill>
              <a:latin typeface="Segoe UI"/>
            </a:endParaRPr>
          </a:p>
          <a:p>
            <a:pPr>
              <a:spcAft>
                <a:spcPts val="300"/>
              </a:spcAft>
            </a:pPr>
            <a:r>
              <a:rPr sz="900" b="1" dirty="0">
                <a:solidFill>
                  <a:srgbClr val="1E293B"/>
                </a:solidFill>
                <a:latin typeface="Segoe UI"/>
              </a:rPr>
              <a:t>• Automated Reporting: </a:t>
            </a:r>
            <a:r>
              <a:rPr sz="900" dirty="0">
                <a:solidFill>
                  <a:srgbClr val="334155"/>
                </a:solidFill>
                <a:latin typeface="Segoe UI"/>
              </a:rPr>
              <a:t>FPDF2 2.7.8 for programmatic generation of formal analytical PDF reports.</a:t>
            </a:r>
          </a:p>
          <a:p>
            <a:pPr>
              <a:spcAft>
                <a:spcPts val="300"/>
              </a:spcAft>
            </a:pPr>
            <a:r>
              <a:rPr sz="900" b="1" dirty="0">
                <a:solidFill>
                  <a:srgbClr val="1E293B"/>
                </a:solidFill>
                <a:latin typeface="Segoe UI"/>
              </a:rPr>
              <a:t>• Automated Testing: </a:t>
            </a:r>
            <a:r>
              <a:rPr lang="en-IN" sz="900" dirty="0" err="1"/>
              <a:t>Pytest</a:t>
            </a:r>
            <a:r>
              <a:rPr lang="en-IN" sz="900" dirty="0"/>
              <a:t> framework running 18 tests validating dataset shapes, missing values, and duplicate records.</a:t>
            </a:r>
            <a:endParaRPr sz="900" dirty="0">
              <a:solidFill>
                <a:srgbClr val="334155"/>
              </a:solidFill>
              <a:latin typeface="Segoe UI"/>
            </a:endParaRPr>
          </a:p>
        </p:txBody>
      </p:sp>
      <p:sp>
        <p:nvSpPr>
          <p:cNvPr id="5" name="Rounded Rectangle 4"/>
          <p:cNvSpPr/>
          <p:nvPr/>
        </p:nvSpPr>
        <p:spPr>
          <a:xfrm>
            <a:off x="731520" y="3913632"/>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4023360"/>
            <a:ext cx="4791456" cy="1443985"/>
          </a:xfrm>
          <a:prstGeom prst="rect">
            <a:avLst/>
          </a:prstGeom>
          <a:noFill/>
        </p:spPr>
        <p:txBody>
          <a:bodyPr wrap="square" lIns="0" tIns="0" rIns="0" bIns="0">
            <a:spAutoFit/>
          </a:bodyPr>
          <a:lstStyle/>
          <a:p>
            <a:pPr>
              <a:spcAft>
                <a:spcPts val="400"/>
              </a:spcAft>
              <a:defRPr sz="1100" b="1">
                <a:solidFill>
                  <a:srgbClr val="0F172A"/>
                </a:solidFill>
                <a:latin typeface="Segoe UI"/>
              </a:defRPr>
            </a:pPr>
            <a:r>
              <a:rPr dirty="0"/>
              <a:t>Engineering &amp; Reproducibility Principles</a:t>
            </a:r>
          </a:p>
          <a:p>
            <a:pPr>
              <a:spcAft>
                <a:spcPts val="300"/>
              </a:spcAft>
            </a:pPr>
            <a:r>
              <a:rPr sz="900" b="1" dirty="0">
                <a:solidFill>
                  <a:srgbClr val="1E293B"/>
                </a:solidFill>
                <a:latin typeface="Segoe UI"/>
              </a:rPr>
              <a:t>• DRY Architecture: </a:t>
            </a:r>
            <a:r>
              <a:rPr sz="900" dirty="0">
                <a:solidFill>
                  <a:srgbClr val="334155"/>
                </a:solidFill>
                <a:latin typeface="Segoe UI"/>
              </a:rPr>
              <a:t>Reusable validation routines centralized in src/data_validation.py across all five domain projects.</a:t>
            </a:r>
          </a:p>
          <a:p>
            <a:pPr>
              <a:spcAft>
                <a:spcPts val="300"/>
              </a:spcAft>
            </a:pPr>
            <a:r>
              <a:rPr sz="900" b="1" dirty="0">
                <a:solidFill>
                  <a:srgbClr val="1E293B"/>
                </a:solidFill>
                <a:latin typeface="Segoe UI"/>
              </a:rPr>
              <a:t>• Defensive Quality Checks: </a:t>
            </a:r>
            <a:r>
              <a:rPr sz="900" dirty="0">
                <a:solidFill>
                  <a:srgbClr val="334155"/>
                </a:solidFill>
                <a:latin typeface="Segoe UI"/>
              </a:rPr>
              <a:t>Automated pre-flight assertions for schema dimensions, null values, and duplicate row detection.</a:t>
            </a:r>
          </a:p>
          <a:p>
            <a:pPr>
              <a:spcAft>
                <a:spcPts val="300"/>
              </a:spcAft>
            </a:pPr>
            <a:r>
              <a:rPr sz="900" b="1" dirty="0">
                <a:solidFill>
                  <a:srgbClr val="1E293B"/>
                </a:solidFill>
                <a:latin typeface="Segoe UI"/>
              </a:rPr>
              <a:t>• Reproducible Artifacts: </a:t>
            </a:r>
            <a:r>
              <a:rPr lang="en-IN" sz="900" dirty="0"/>
              <a:t>Project notebooks, PDF reports, visualizations, and presentation materials are organized within the repository.</a:t>
            </a:r>
            <a:endParaRPr sz="900" dirty="0">
              <a:solidFill>
                <a:srgbClr val="334155"/>
              </a:solidFill>
              <a:latin typeface="Segoe UI"/>
            </a:endParaRPr>
          </a:p>
          <a:p>
            <a:pPr>
              <a:spcAft>
                <a:spcPts val="300"/>
              </a:spcAft>
            </a:pPr>
            <a:r>
              <a:rPr sz="900" b="1" dirty="0">
                <a:solidFill>
                  <a:srgbClr val="1E293B"/>
                </a:solidFill>
                <a:latin typeface="Segoe UI"/>
              </a:rPr>
              <a:t>• Strict Data Provenance: </a:t>
            </a:r>
            <a:r>
              <a:rPr sz="900" dirty="0">
                <a:solidFill>
                  <a:srgbClr val="334155"/>
                </a:solidFill>
                <a:latin typeface="Segoe UI"/>
              </a:rPr>
              <a:t>Raw data is never altered in-place; source inconsistencies are documented transparently.</a:t>
            </a:r>
          </a:p>
        </p:txBody>
      </p:sp>
      <p:sp>
        <p:nvSpPr>
          <p:cNvPr id="7" name="Rounded Rectangle 6"/>
          <p:cNvSpPr/>
          <p:nvPr/>
        </p:nvSpPr>
        <p:spPr>
          <a:xfrm>
            <a:off x="6035040" y="1417320"/>
            <a:ext cx="5425135" cy="48280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0" y="1554480"/>
            <a:ext cx="5059375" cy="2848985"/>
          </a:xfrm>
          <a:prstGeom prst="rect">
            <a:avLst/>
          </a:prstGeom>
          <a:noFill/>
        </p:spPr>
        <p:txBody>
          <a:bodyPr wrap="square" lIns="0" tIns="0" rIns="0" bIns="0">
            <a:spAutoFit/>
          </a:bodyPr>
          <a:lstStyle/>
          <a:p>
            <a:pPr>
              <a:spcAft>
                <a:spcPts val="600"/>
              </a:spcAft>
              <a:defRPr sz="1100" b="1">
                <a:solidFill>
                  <a:srgbClr val="0F172A"/>
                </a:solidFill>
                <a:latin typeface="Segoe UI"/>
              </a:defRPr>
            </a:pPr>
            <a:r>
              <a:rPr dirty="0"/>
              <a:t>REPOSITORY STRUCTURE</a:t>
            </a:r>
          </a:p>
          <a:p>
            <a:pPr>
              <a:spcAft>
                <a:spcPts val="200"/>
              </a:spcAft>
            </a:pPr>
            <a:r>
              <a:rPr sz="780" b="1" dirty="0">
                <a:solidFill>
                  <a:srgbClr val="0F766E"/>
                </a:solidFill>
                <a:latin typeface="Consolas"/>
              </a:rPr>
              <a:t>Multi-Domain-Data-Analysis/</a:t>
            </a:r>
            <a:r>
              <a:rPr sz="720" dirty="0">
                <a:solidFill>
                  <a:srgbClr val="64748B"/>
                </a:solidFill>
                <a:latin typeface="Segoe UI"/>
              </a:rPr>
              <a:t>  # Root directory</a:t>
            </a:r>
          </a:p>
          <a:p>
            <a:pPr>
              <a:spcAft>
                <a:spcPts val="200"/>
              </a:spcAft>
            </a:pPr>
            <a:r>
              <a:rPr sz="780" b="0" dirty="0">
                <a:solidFill>
                  <a:srgbClr val="1E293B"/>
                </a:solidFill>
                <a:latin typeface="Consolas"/>
              </a:rPr>
              <a:t>├── data/raw/</a:t>
            </a:r>
            <a:r>
              <a:rPr sz="720" dirty="0">
                <a:solidFill>
                  <a:srgbClr val="64748B"/>
                </a:solidFill>
                <a:latin typeface="Segoe UI"/>
              </a:rPr>
              <a:t>  # 5 raw CSV datasets (retail, student, weather, covid, stock)</a:t>
            </a:r>
          </a:p>
          <a:p>
            <a:pPr>
              <a:spcAft>
                <a:spcPts val="200"/>
              </a:spcAft>
            </a:pPr>
            <a:r>
              <a:rPr sz="780" b="0" dirty="0">
                <a:solidFill>
                  <a:srgbClr val="1E293B"/>
                </a:solidFill>
                <a:latin typeface="Consolas"/>
              </a:rPr>
              <a:t>├── notebooks/</a:t>
            </a:r>
            <a:r>
              <a:rPr sz="720" dirty="0">
                <a:solidFill>
                  <a:srgbClr val="64748B"/>
                </a:solidFill>
                <a:latin typeface="Segoe UI"/>
              </a:rPr>
              <a:t>  # 5 </a:t>
            </a:r>
            <a:r>
              <a:rPr lang="en-IN" sz="720" dirty="0">
                <a:solidFill>
                  <a:srgbClr val="64748B"/>
                </a:solidFill>
                <a:latin typeface="Segoe UI"/>
              </a:rPr>
              <a:t>complete</a:t>
            </a:r>
            <a:r>
              <a:rPr sz="720" dirty="0">
                <a:solidFill>
                  <a:srgbClr val="64748B"/>
                </a:solidFill>
                <a:latin typeface="Segoe UI"/>
              </a:rPr>
              <a:t> Jupyter notebooks</a:t>
            </a:r>
            <a:r>
              <a:rPr lang="en-IN" sz="720" dirty="0">
                <a:solidFill>
                  <a:srgbClr val="64748B"/>
                </a:solidFill>
                <a:latin typeface="Segoe UI"/>
              </a:rPr>
              <a:t>.</a:t>
            </a:r>
            <a:endParaRPr sz="720" dirty="0">
              <a:solidFill>
                <a:srgbClr val="64748B"/>
              </a:solidFill>
              <a:latin typeface="Segoe UI"/>
            </a:endParaRPr>
          </a:p>
          <a:p>
            <a:pPr>
              <a:spcAft>
                <a:spcPts val="200"/>
              </a:spcAft>
            </a:pPr>
            <a:r>
              <a:rPr sz="780" b="0" dirty="0">
                <a:solidFill>
                  <a:srgbClr val="1E293B"/>
                </a:solidFill>
                <a:latin typeface="Consolas"/>
              </a:rPr>
              <a:t>│   ├── 01_supermarket_sales_analysis.ipynb</a:t>
            </a:r>
            <a:r>
              <a:rPr sz="720" dirty="0">
                <a:solidFill>
                  <a:srgbClr val="64748B"/>
                </a:solidFill>
                <a:latin typeface="Segoe UI"/>
              </a:rPr>
              <a:t>  # Retail transaction EDA &amp; segmentation</a:t>
            </a:r>
          </a:p>
          <a:p>
            <a:pPr>
              <a:spcAft>
                <a:spcPts val="200"/>
              </a:spcAft>
            </a:pPr>
            <a:r>
              <a:rPr sz="780" b="0" dirty="0">
                <a:solidFill>
                  <a:srgbClr val="1E293B"/>
                </a:solidFill>
                <a:latin typeface="Consolas"/>
              </a:rPr>
              <a:t>│   ├── 02_student_performance_analysis.ipynb</a:t>
            </a:r>
            <a:r>
              <a:rPr sz="720" dirty="0">
                <a:solidFill>
                  <a:srgbClr val="64748B"/>
                </a:solidFill>
                <a:latin typeface="Segoe UI"/>
              </a:rPr>
              <a:t>  # Academic performance &amp; correlation analysis</a:t>
            </a:r>
          </a:p>
          <a:p>
            <a:pPr>
              <a:spcAft>
                <a:spcPts val="200"/>
              </a:spcAft>
            </a:pPr>
            <a:r>
              <a:rPr sz="780" b="0" dirty="0">
                <a:solidFill>
                  <a:srgbClr val="1E293B"/>
                </a:solidFill>
                <a:latin typeface="Consolas"/>
              </a:rPr>
              <a:t>│   ├── 03_weather_data_analysis.ipynb</a:t>
            </a:r>
            <a:r>
              <a:rPr sz="720" dirty="0">
                <a:solidFill>
                  <a:srgbClr val="64748B"/>
                </a:solidFill>
                <a:latin typeface="Segoe UI"/>
              </a:rPr>
              <a:t>  # Meteorological time series &amp; seasonal analysis</a:t>
            </a:r>
          </a:p>
          <a:p>
            <a:pPr>
              <a:spcAft>
                <a:spcPts val="200"/>
              </a:spcAft>
            </a:pPr>
            <a:r>
              <a:rPr sz="780" b="0" dirty="0">
                <a:solidFill>
                  <a:srgbClr val="1E293B"/>
                </a:solidFill>
                <a:latin typeface="Consolas"/>
              </a:rPr>
              <a:t>│   ├── 04_covid_healthcare_analysis.ipynb</a:t>
            </a:r>
            <a:r>
              <a:rPr sz="720" dirty="0">
                <a:solidFill>
                  <a:srgbClr val="64748B"/>
                </a:solidFill>
                <a:latin typeface="Segoe UI"/>
              </a:rPr>
              <a:t>  # </a:t>
            </a:r>
            <a:r>
              <a:rPr lang="en-IN" sz="800" dirty="0"/>
              <a:t>Case-activity &amp; regional mortality analysis</a:t>
            </a:r>
            <a:endParaRPr sz="720" dirty="0">
              <a:solidFill>
                <a:srgbClr val="64748B"/>
              </a:solidFill>
              <a:latin typeface="Segoe UI"/>
            </a:endParaRPr>
          </a:p>
          <a:p>
            <a:pPr>
              <a:spcAft>
                <a:spcPts val="200"/>
              </a:spcAft>
            </a:pPr>
            <a:r>
              <a:rPr sz="780" b="0" dirty="0">
                <a:solidFill>
                  <a:srgbClr val="1E293B"/>
                </a:solidFill>
                <a:latin typeface="Consolas"/>
              </a:rPr>
              <a:t>│   └── 05_stock_market_analysis.ipynb</a:t>
            </a:r>
            <a:r>
              <a:rPr sz="720" dirty="0">
                <a:solidFill>
                  <a:srgbClr val="64748B"/>
                </a:solidFill>
                <a:latin typeface="Segoe UI"/>
              </a:rPr>
              <a:t>  # Quantitative return, volatility &amp; risk analysis</a:t>
            </a:r>
          </a:p>
          <a:p>
            <a:pPr>
              <a:spcAft>
                <a:spcPts val="200"/>
              </a:spcAft>
            </a:pPr>
            <a:r>
              <a:rPr sz="780" b="0" dirty="0">
                <a:solidFill>
                  <a:srgbClr val="1E293B"/>
                </a:solidFill>
                <a:latin typeface="Consolas"/>
              </a:rPr>
              <a:t>├── </a:t>
            </a:r>
            <a:r>
              <a:rPr sz="780" b="0" dirty="0" err="1">
                <a:solidFill>
                  <a:srgbClr val="1E293B"/>
                </a:solidFill>
                <a:latin typeface="Consolas"/>
              </a:rPr>
              <a:t>src</a:t>
            </a:r>
            <a:r>
              <a:rPr sz="780" b="0" dirty="0">
                <a:solidFill>
                  <a:srgbClr val="1E293B"/>
                </a:solidFill>
                <a:latin typeface="Consolas"/>
              </a:rPr>
              <a:t>/</a:t>
            </a:r>
            <a:r>
              <a:rPr sz="720" dirty="0">
                <a:solidFill>
                  <a:srgbClr val="64748B"/>
                </a:solidFill>
                <a:latin typeface="Segoe UI"/>
              </a:rPr>
              <a:t>  # Reusable data validation and analytics functions</a:t>
            </a:r>
          </a:p>
          <a:p>
            <a:pPr>
              <a:spcAft>
                <a:spcPts val="200"/>
              </a:spcAft>
            </a:pPr>
            <a:r>
              <a:rPr sz="780" b="0" dirty="0">
                <a:solidFill>
                  <a:srgbClr val="1E293B"/>
                </a:solidFill>
                <a:latin typeface="Consolas"/>
              </a:rPr>
              <a:t>│   └── data_validation.py</a:t>
            </a:r>
            <a:r>
              <a:rPr sz="720" dirty="0">
                <a:solidFill>
                  <a:srgbClr val="64748B"/>
                </a:solidFill>
                <a:latin typeface="Segoe UI"/>
              </a:rPr>
              <a:t>  # Shape, null, and duplicate check functions</a:t>
            </a:r>
          </a:p>
          <a:p>
            <a:pPr>
              <a:spcAft>
                <a:spcPts val="200"/>
              </a:spcAft>
            </a:pPr>
            <a:r>
              <a:rPr sz="780" b="0" dirty="0">
                <a:solidFill>
                  <a:srgbClr val="1E293B"/>
                </a:solidFill>
                <a:latin typeface="Consolas"/>
              </a:rPr>
              <a:t>├── tests/</a:t>
            </a:r>
            <a:r>
              <a:rPr sz="720" dirty="0">
                <a:solidFill>
                  <a:srgbClr val="64748B"/>
                </a:solidFill>
                <a:latin typeface="Segoe UI"/>
              </a:rPr>
              <a:t>  # Automated </a:t>
            </a:r>
            <a:r>
              <a:rPr sz="720" dirty="0" err="1">
                <a:solidFill>
                  <a:srgbClr val="64748B"/>
                </a:solidFill>
                <a:latin typeface="Segoe UI"/>
              </a:rPr>
              <a:t>pytest</a:t>
            </a:r>
            <a:r>
              <a:rPr sz="720" dirty="0">
                <a:solidFill>
                  <a:srgbClr val="64748B"/>
                </a:solidFill>
                <a:latin typeface="Segoe UI"/>
              </a:rPr>
              <a:t> test suite (18 tests passing)</a:t>
            </a:r>
          </a:p>
          <a:p>
            <a:pPr>
              <a:spcAft>
                <a:spcPts val="200"/>
              </a:spcAft>
            </a:pPr>
            <a:r>
              <a:rPr sz="780" b="0" dirty="0">
                <a:solidFill>
                  <a:srgbClr val="1E293B"/>
                </a:solidFill>
                <a:latin typeface="Consolas"/>
              </a:rPr>
              <a:t>│   ├── test_data_validation.py / test_supermarket.py / test_student.py</a:t>
            </a:r>
            <a:r>
              <a:rPr sz="720" dirty="0">
                <a:solidFill>
                  <a:srgbClr val="64748B"/>
                </a:solidFill>
                <a:latin typeface="Segoe UI"/>
              </a:rPr>
              <a:t>  # Unit tests</a:t>
            </a:r>
          </a:p>
          <a:p>
            <a:pPr>
              <a:spcAft>
                <a:spcPts val="200"/>
              </a:spcAft>
            </a:pPr>
            <a:r>
              <a:rPr sz="780" b="0" dirty="0">
                <a:solidFill>
                  <a:srgbClr val="1E293B"/>
                </a:solidFill>
                <a:latin typeface="Consolas"/>
              </a:rPr>
              <a:t>│   └── test_weather.py / test_covid.py / test_stock_market.py</a:t>
            </a:r>
            <a:r>
              <a:rPr sz="720" dirty="0">
                <a:solidFill>
                  <a:srgbClr val="64748B"/>
                </a:solidFill>
                <a:latin typeface="Segoe UI"/>
              </a:rPr>
              <a:t>  # Domain unit tests</a:t>
            </a:r>
          </a:p>
          <a:p>
            <a:pPr>
              <a:spcAft>
                <a:spcPts val="200"/>
              </a:spcAft>
            </a:pPr>
            <a:r>
              <a:rPr sz="780" b="0" dirty="0">
                <a:solidFill>
                  <a:srgbClr val="1E293B"/>
                </a:solidFill>
                <a:latin typeface="Consolas"/>
              </a:rPr>
              <a:t>├── visualizations/</a:t>
            </a:r>
            <a:r>
              <a:rPr sz="720" dirty="0">
                <a:solidFill>
                  <a:srgbClr val="64748B"/>
                </a:solidFill>
                <a:latin typeface="Segoe UI"/>
              </a:rPr>
              <a:t>  # 22 high-resolution saved PNG charts</a:t>
            </a:r>
          </a:p>
          <a:p>
            <a:pPr>
              <a:spcAft>
                <a:spcPts val="200"/>
              </a:spcAft>
            </a:pPr>
            <a:r>
              <a:rPr sz="780" b="0" dirty="0">
                <a:solidFill>
                  <a:srgbClr val="1E293B"/>
                </a:solidFill>
                <a:latin typeface="Consolas"/>
              </a:rPr>
              <a:t>├── reports/</a:t>
            </a:r>
            <a:r>
              <a:rPr sz="720" dirty="0">
                <a:solidFill>
                  <a:srgbClr val="64748B"/>
                </a:solidFill>
                <a:latin typeface="Segoe UI"/>
              </a:rPr>
              <a:t>  # 5 formal executive PDF analytical reports (FPDF2)</a:t>
            </a:r>
          </a:p>
          <a:p>
            <a:pPr>
              <a:spcAft>
                <a:spcPts val="200"/>
              </a:spcAft>
            </a:pPr>
            <a:r>
              <a:rPr sz="780" b="0" dirty="0">
                <a:solidFill>
                  <a:srgbClr val="1E293B"/>
                </a:solidFill>
                <a:latin typeface="Consolas"/>
              </a:rPr>
              <a:t>├── presentation/</a:t>
            </a:r>
            <a:r>
              <a:rPr sz="720" dirty="0">
                <a:solidFill>
                  <a:srgbClr val="64748B"/>
                </a:solidFill>
                <a:latin typeface="Segoe UI"/>
              </a:rPr>
              <a:t>  # PowerPoint deck (.pptx) and interactive HTML presentation</a:t>
            </a:r>
          </a:p>
          <a:p>
            <a:pPr>
              <a:spcAft>
                <a:spcPts val="200"/>
              </a:spcAft>
            </a:pPr>
            <a:r>
              <a:rPr sz="780" b="0" dirty="0">
                <a:solidFill>
                  <a:srgbClr val="1E293B"/>
                </a:solidFill>
                <a:latin typeface="Consolas"/>
              </a:rPr>
              <a:t>├── docs/</a:t>
            </a:r>
            <a:r>
              <a:rPr sz="720" dirty="0">
                <a:solidFill>
                  <a:srgbClr val="64748B"/>
                </a:solidFill>
                <a:latin typeface="Segoe UI"/>
              </a:rPr>
              <a:t>  # Portfolio documentation, methodology, and verification logs</a:t>
            </a:r>
          </a:p>
          <a:p>
            <a:pPr>
              <a:spcAft>
                <a:spcPts val="200"/>
              </a:spcAft>
            </a:pPr>
            <a:r>
              <a:rPr sz="780" b="0" dirty="0">
                <a:solidFill>
                  <a:srgbClr val="1E293B"/>
                </a:solidFill>
                <a:latin typeface="Consolas"/>
              </a:rPr>
              <a:t>└── requirements.txt</a:t>
            </a:r>
            <a:r>
              <a:rPr sz="720" dirty="0">
                <a:solidFill>
                  <a:srgbClr val="64748B"/>
                </a:solidFill>
                <a:latin typeface="Segoe UI"/>
              </a:rPr>
              <a:t>  # </a:t>
            </a:r>
            <a:r>
              <a:rPr lang="en-IN" sz="800" dirty="0"/>
              <a:t>Project dependency manifest</a:t>
            </a:r>
            <a:endParaRPr sz="720" dirty="0">
              <a:solidFill>
                <a:srgbClr val="64748B"/>
              </a:solidFill>
              <a:latin typeface="Segoe UI"/>
            </a:endParaRPr>
          </a:p>
        </p:txBody>
      </p:sp>
      <p:sp>
        <p:nvSpPr>
          <p:cNvPr id="9" name="Rectangle 8"/>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11" name="TextBox 10"/>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11 of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0D9488"/>
                </a:solidFill>
                <a:latin typeface="Segoe UI"/>
              </a:defRPr>
            </a:pPr>
            <a:r>
              <a:t>PORTFOLIO SUMMARY</a:t>
            </a:r>
          </a:p>
          <a:p>
            <a:pPr>
              <a:spcAft>
                <a:spcPts val="200"/>
              </a:spcAft>
              <a:defRPr sz="2000" b="1">
                <a:solidFill>
                  <a:srgbClr val="0F172A"/>
                </a:solidFill>
                <a:latin typeface="Segoe UI"/>
              </a:defRPr>
            </a:pPr>
            <a:r>
              <a:t>Conclusion: Turning Data into Decisions</a:t>
            </a:r>
          </a:p>
          <a:p>
            <a:pPr>
              <a:defRPr sz="1100">
                <a:solidFill>
                  <a:srgbClr val="64748B"/>
                </a:solidFill>
                <a:latin typeface="Segoe UI"/>
              </a:defRPr>
            </a:pPr>
            <a:r>
              <a:t>Demonstrating end-to-end data analytics capability, technical rigor, and objective business insight generation</a:t>
            </a:r>
          </a:p>
        </p:txBody>
      </p:sp>
      <p:sp>
        <p:nvSpPr>
          <p:cNvPr id="3" name="Rounded Rectangle 2"/>
          <p:cNvSpPr/>
          <p:nvPr/>
        </p:nvSpPr>
        <p:spPr>
          <a:xfrm>
            <a:off x="731520" y="141732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417320"/>
            <a:ext cx="3429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27048"/>
            <a:ext cx="3154680" cy="1874520"/>
          </a:xfrm>
          <a:prstGeom prst="rect">
            <a:avLst/>
          </a:prstGeom>
          <a:noFill/>
        </p:spPr>
        <p:txBody>
          <a:bodyPr wrap="square" lIns="0" tIns="0" rIns="0" bIns="0">
            <a:spAutoFit/>
          </a:bodyPr>
          <a:lstStyle/>
          <a:p>
            <a:pPr>
              <a:spcAft>
                <a:spcPts val="400"/>
              </a:spcAft>
              <a:defRPr sz="1050" b="1">
                <a:solidFill>
                  <a:srgbClr val="0F172A"/>
                </a:solidFill>
                <a:latin typeface="Segoe UI"/>
              </a:defRPr>
            </a:pPr>
            <a:r>
              <a:t>1. Data Ingestion &amp; Cleaning</a:t>
            </a:r>
          </a:p>
          <a:p>
            <a:pPr>
              <a:defRPr sz="850">
                <a:solidFill>
                  <a:srgbClr val="334155"/>
                </a:solidFill>
                <a:latin typeface="Segoe UI"/>
              </a:defRPr>
            </a:pPr>
            <a:r>
              <a:t>Standardized handling of diverse data formats and dates, feature engineering (time-periods, moving averages), and structured data hygiene.</a:t>
            </a:r>
          </a:p>
        </p:txBody>
      </p:sp>
      <p:sp>
        <p:nvSpPr>
          <p:cNvPr id="6" name="Rounded Rectangle 5"/>
          <p:cNvSpPr/>
          <p:nvPr/>
        </p:nvSpPr>
        <p:spPr>
          <a:xfrm>
            <a:off x="4379976" y="141732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79976" y="1417320"/>
            <a:ext cx="3429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17136" y="1527048"/>
            <a:ext cx="3154680" cy="1874520"/>
          </a:xfrm>
          <a:prstGeom prst="rect">
            <a:avLst/>
          </a:prstGeom>
          <a:noFill/>
        </p:spPr>
        <p:txBody>
          <a:bodyPr wrap="square" lIns="0" tIns="0" rIns="0" bIns="0">
            <a:spAutoFit/>
          </a:bodyPr>
          <a:lstStyle/>
          <a:p>
            <a:pPr>
              <a:spcAft>
                <a:spcPts val="400"/>
              </a:spcAft>
              <a:defRPr sz="1050" b="1">
                <a:solidFill>
                  <a:srgbClr val="0F172A"/>
                </a:solidFill>
                <a:latin typeface="Segoe UI"/>
              </a:defRPr>
            </a:pPr>
            <a:r>
              <a:rPr dirty="0"/>
              <a:t>2. Validation &amp; Quality Auditing</a:t>
            </a:r>
          </a:p>
          <a:p>
            <a:pPr>
              <a:defRPr sz="850">
                <a:solidFill>
                  <a:srgbClr val="334155"/>
                </a:solidFill>
                <a:latin typeface="Segoe UI"/>
              </a:defRPr>
            </a:pPr>
            <a:r>
              <a:rPr dirty="0"/>
              <a:t>Pre-flight shape assertions, missing value verification, duplicate detection, and explicit documentation of raw data anomalies without distortion.</a:t>
            </a:r>
          </a:p>
        </p:txBody>
      </p:sp>
      <p:sp>
        <p:nvSpPr>
          <p:cNvPr id="9" name="Rounded Rectangle 8"/>
          <p:cNvSpPr/>
          <p:nvPr/>
        </p:nvSpPr>
        <p:spPr>
          <a:xfrm>
            <a:off x="8028432" y="141732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28432" y="1417320"/>
            <a:ext cx="3429000"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65592" y="1527048"/>
            <a:ext cx="3154680" cy="1874520"/>
          </a:xfrm>
          <a:prstGeom prst="rect">
            <a:avLst/>
          </a:prstGeom>
          <a:noFill/>
        </p:spPr>
        <p:txBody>
          <a:bodyPr wrap="square" lIns="0" tIns="0" rIns="0" bIns="0">
            <a:spAutoFit/>
          </a:bodyPr>
          <a:lstStyle/>
          <a:p>
            <a:pPr>
              <a:spcAft>
                <a:spcPts val="400"/>
              </a:spcAft>
              <a:defRPr sz="1050" b="1">
                <a:solidFill>
                  <a:srgbClr val="0F172A"/>
                </a:solidFill>
                <a:latin typeface="Segoe UI"/>
              </a:defRPr>
            </a:pPr>
            <a:r>
              <a:t>3. Exploratory &amp; Statistical EDA</a:t>
            </a:r>
          </a:p>
          <a:p>
            <a:pPr>
              <a:defRPr sz="850">
                <a:solidFill>
                  <a:srgbClr val="334155"/>
                </a:solidFill>
                <a:latin typeface="Segoe UI"/>
              </a:defRPr>
            </a:pPr>
            <a:r>
              <a:t>Rigorous application of central tendency, dispersion metrics, Pearson correlation matrices, and distribution profiling tailored to each domain.</a:t>
            </a:r>
          </a:p>
        </p:txBody>
      </p:sp>
      <p:sp>
        <p:nvSpPr>
          <p:cNvPr id="12" name="Rounded Rectangle 11"/>
          <p:cNvSpPr/>
          <p:nvPr/>
        </p:nvSpPr>
        <p:spPr>
          <a:xfrm>
            <a:off x="731520" y="361188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900" dirty="0">
                <a:solidFill>
                  <a:schemeClr val="tx1">
                    <a:lumMod val="95000"/>
                    <a:lumOff val="5000"/>
                  </a:schemeClr>
                </a:solidFill>
              </a:rPr>
              <a:t>22 analytical Matplotlib/Seaborn figures with consistent styling, readable labels, units, and clear analytical value.</a:t>
            </a:r>
            <a:r>
              <a:rPr lang="en-IN" dirty="0"/>
              <a:t>th consistent styling, readable labels, units, and clear analytical value</a:t>
            </a:r>
            <a:endParaRPr dirty="0"/>
          </a:p>
        </p:txBody>
      </p:sp>
      <p:sp>
        <p:nvSpPr>
          <p:cNvPr id="13" name="Rectangle 12"/>
          <p:cNvSpPr/>
          <p:nvPr/>
        </p:nvSpPr>
        <p:spPr>
          <a:xfrm>
            <a:off x="731520" y="3611880"/>
            <a:ext cx="3429000" cy="5486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721608"/>
            <a:ext cx="3154680" cy="161583"/>
          </a:xfrm>
          <a:prstGeom prst="rect">
            <a:avLst/>
          </a:prstGeom>
          <a:noFill/>
        </p:spPr>
        <p:txBody>
          <a:bodyPr wrap="square" lIns="0" tIns="0" rIns="0" bIns="0">
            <a:spAutoFit/>
          </a:bodyPr>
          <a:lstStyle/>
          <a:p>
            <a:pPr>
              <a:spcAft>
                <a:spcPts val="400"/>
              </a:spcAft>
              <a:defRPr sz="1050" b="1">
                <a:solidFill>
                  <a:srgbClr val="0F172A"/>
                </a:solidFill>
                <a:latin typeface="Segoe UI"/>
              </a:defRPr>
            </a:pPr>
            <a:r>
              <a:rPr dirty="0"/>
              <a:t>4. Publication-Qual</a:t>
            </a:r>
            <a:r>
              <a:rPr lang="en-IN" dirty="0" err="1"/>
              <a:t>ity</a:t>
            </a:r>
            <a:r>
              <a:rPr lang="en-IN" dirty="0"/>
              <a:t> Visualizations</a:t>
            </a:r>
            <a:endParaRPr dirty="0"/>
          </a:p>
        </p:txBody>
      </p:sp>
      <p:sp>
        <p:nvSpPr>
          <p:cNvPr id="15" name="Rounded Rectangle 14"/>
          <p:cNvSpPr/>
          <p:nvPr/>
        </p:nvSpPr>
        <p:spPr>
          <a:xfrm>
            <a:off x="4379976" y="361188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9976" y="3611880"/>
            <a:ext cx="3429000" cy="54864"/>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7136" y="3721608"/>
            <a:ext cx="3154680" cy="1874520"/>
          </a:xfrm>
          <a:prstGeom prst="rect">
            <a:avLst/>
          </a:prstGeom>
          <a:noFill/>
        </p:spPr>
        <p:txBody>
          <a:bodyPr wrap="square" lIns="0" tIns="0" rIns="0" bIns="0">
            <a:spAutoFit/>
          </a:bodyPr>
          <a:lstStyle/>
          <a:p>
            <a:pPr>
              <a:spcAft>
                <a:spcPts val="400"/>
              </a:spcAft>
              <a:defRPr sz="1050" b="1">
                <a:solidFill>
                  <a:srgbClr val="0F172A"/>
                </a:solidFill>
                <a:latin typeface="Segoe UI"/>
              </a:defRPr>
            </a:pPr>
            <a:r>
              <a:t>5. Business Insight &amp; Strategy</a:t>
            </a:r>
          </a:p>
          <a:p>
            <a:pPr>
              <a:defRPr sz="850">
                <a:solidFill>
                  <a:srgbClr val="334155"/>
                </a:solidFill>
                <a:latin typeface="Segoe UI"/>
              </a:defRPr>
            </a:pPr>
            <a:r>
              <a:t>Translating empirical patterns into testable operational adjustments while strictly avoiding causal claims from observational associations.</a:t>
            </a:r>
          </a:p>
        </p:txBody>
      </p:sp>
      <p:sp>
        <p:nvSpPr>
          <p:cNvPr id="18" name="Rounded Rectangle 17"/>
          <p:cNvSpPr/>
          <p:nvPr/>
        </p:nvSpPr>
        <p:spPr>
          <a:xfrm>
            <a:off x="8028432" y="361188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28432" y="3611880"/>
            <a:ext cx="3429000" cy="54864"/>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65592" y="3721608"/>
            <a:ext cx="3154680" cy="605294"/>
          </a:xfrm>
          <a:prstGeom prst="rect">
            <a:avLst/>
          </a:prstGeom>
          <a:noFill/>
        </p:spPr>
        <p:txBody>
          <a:bodyPr wrap="square" lIns="0" tIns="0" rIns="0" bIns="0">
            <a:spAutoFit/>
          </a:bodyPr>
          <a:lstStyle/>
          <a:p>
            <a:pPr>
              <a:spcAft>
                <a:spcPts val="400"/>
              </a:spcAft>
              <a:defRPr sz="1050" b="1">
                <a:solidFill>
                  <a:srgbClr val="0F172A"/>
                </a:solidFill>
                <a:latin typeface="Segoe UI"/>
              </a:defRPr>
            </a:pPr>
            <a:r>
              <a:rPr dirty="0"/>
              <a:t>6. Testing &amp; Engineering Discipline</a:t>
            </a:r>
          </a:p>
          <a:p>
            <a:pPr>
              <a:defRPr sz="850">
                <a:solidFill>
                  <a:srgbClr val="334155"/>
                </a:solidFill>
                <a:latin typeface="Segoe UI"/>
              </a:defRPr>
            </a:pPr>
            <a:r>
              <a:rPr dirty="0"/>
              <a:t>Automated </a:t>
            </a:r>
            <a:r>
              <a:rPr dirty="0" err="1"/>
              <a:t>pytest</a:t>
            </a:r>
            <a:r>
              <a:rPr dirty="0"/>
              <a:t> test suite with 18 passed tests, modular </a:t>
            </a:r>
            <a:r>
              <a:rPr dirty="0" err="1"/>
              <a:t>src</a:t>
            </a:r>
            <a:r>
              <a:rPr dirty="0"/>
              <a:t>/ architecture, </a:t>
            </a:r>
            <a:r>
              <a:rPr lang="en-IN" dirty="0"/>
              <a:t>documented</a:t>
            </a:r>
            <a:r>
              <a:rPr dirty="0"/>
              <a:t> dependencies, and reproducible PDF reporting.</a:t>
            </a:r>
          </a:p>
        </p:txBody>
      </p:sp>
      <p:sp>
        <p:nvSpPr>
          <p:cNvPr id="21" name="Rounded Rectangle 20"/>
          <p:cNvSpPr/>
          <p:nvPr/>
        </p:nvSpPr>
        <p:spPr>
          <a:xfrm>
            <a:off x="731520" y="5779008"/>
            <a:ext cx="10728655" cy="50292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833872"/>
            <a:ext cx="10362895" cy="384048"/>
          </a:xfrm>
          <a:prstGeom prst="rect">
            <a:avLst/>
          </a:prstGeom>
          <a:noFill/>
        </p:spPr>
        <p:txBody>
          <a:bodyPr wrap="none" lIns="0" tIns="0" rIns="0" bIns="0">
            <a:spAutoFit/>
          </a:bodyPr>
          <a:lstStyle/>
          <a:p>
            <a:pPr algn="ctr">
              <a:defRPr sz="1200" b="1">
                <a:solidFill>
                  <a:srgbClr val="CCFBF1"/>
                </a:solidFill>
                <a:latin typeface="Segoe UI"/>
              </a:defRPr>
            </a:pPr>
            <a:r>
              <a:t>“TURNING DATA INTO DECISIONS”</a:t>
            </a:r>
          </a:p>
        </p:txBody>
      </p:sp>
      <p:sp>
        <p:nvSpPr>
          <p:cNvPr id="23" name="Rectangle 22"/>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6419088"/>
            <a:ext cx="7315200" cy="320040"/>
          </a:xfrm>
          <a:prstGeom prst="rect">
            <a:avLst/>
          </a:prstGeom>
          <a:noFill/>
        </p:spPr>
        <p:txBody>
          <a:bodyPr wrap="none" lIns="0" tIns="0" rIns="0" bIns="0">
            <a:spAutoFit/>
          </a:bodyPr>
          <a:lstStyle/>
          <a:p>
            <a:pPr>
              <a:defRPr sz="900">
                <a:solidFill>
                  <a:srgbClr val="64748B"/>
                </a:solidFill>
                <a:latin typeface="Segoe UI"/>
              </a:defRPr>
            </a:pPr>
            <a:r>
              <a:t>Multi-Domain Data Analysis Portfolio  |  Madhurja Bhattacharjee  |  Developers Arena Internship</a:t>
            </a:r>
          </a:p>
        </p:txBody>
      </p:sp>
      <p:sp>
        <p:nvSpPr>
          <p:cNvPr id="25" name="TextBox 24"/>
          <p:cNvSpPr txBox="1"/>
          <p:nvPr/>
        </p:nvSpPr>
        <p:spPr>
          <a:xfrm>
            <a:off x="9631375" y="6419088"/>
            <a:ext cx="1828800" cy="320040"/>
          </a:xfrm>
          <a:prstGeom prst="rect">
            <a:avLst/>
          </a:prstGeom>
          <a:noFill/>
        </p:spPr>
        <p:txBody>
          <a:bodyPr wrap="none" lIns="0" tIns="0" rIns="0" bIns="0">
            <a:spAutoFit/>
          </a:bodyPr>
          <a:lstStyle/>
          <a:p>
            <a:pPr algn="r">
              <a:defRPr sz="900" b="1">
                <a:solidFill>
                  <a:srgbClr val="64748B"/>
                </a:solidFill>
                <a:latin typeface="Segoe UI"/>
              </a:defRPr>
            </a:pPr>
            <a:r>
              <a:t>Slide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4198</Words>
  <Application>Microsoft Office PowerPoint</Application>
  <PresentationFormat>Widescreen</PresentationFormat>
  <Paragraphs>306</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Madhurja Bhattacharjee</cp:lastModifiedBy>
  <cp:revision>1</cp:revision>
  <dcterms:created xsi:type="dcterms:W3CDTF">2013-01-27T09:14:16Z</dcterms:created>
  <dcterms:modified xsi:type="dcterms:W3CDTF">2026-09-08T18:53:21Z</dcterms:modified>
  <cp:category/>
</cp:coreProperties>
</file>